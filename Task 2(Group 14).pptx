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Quando" charset="1" panose="02020603060000060704"/>
      <p:regular r:id="rId22"/>
    </p:embeddedFont>
    <p:embeddedFont>
      <p:font typeface="DM Sans Bold" charset="1" panose="00000000000000000000"/>
      <p:regular r:id="rId23"/>
    </p:embeddedFont>
    <p:embeddedFont>
      <p:font typeface="DM Sans" charset="1" panose="00000000000000000000"/>
      <p:regular r:id="rId24"/>
    </p:embeddedFont>
    <p:embeddedFont>
      <p:font typeface="Arimo Bold" charset="1" panose="020B0704020202020204"/>
      <p:regular r:id="rId25"/>
    </p:embeddedFont>
    <p:embeddedFont>
      <p:font typeface="DM Sans Italic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151" r="0" b="-915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22509" y="5990162"/>
            <a:ext cx="11531236" cy="2464574"/>
            <a:chOff x="0" y="0"/>
            <a:chExt cx="3037033" cy="6491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37033" cy="649106"/>
            </a:xfrm>
            <a:custGeom>
              <a:avLst/>
              <a:gdLst/>
              <a:ahLst/>
              <a:cxnLst/>
              <a:rect r="r" b="b" t="t" l="l"/>
              <a:pathLst>
                <a:path h="649106" w="3037033">
                  <a:moveTo>
                    <a:pt x="0" y="0"/>
                  </a:moveTo>
                  <a:lnTo>
                    <a:pt x="3037033" y="0"/>
                  </a:lnTo>
                  <a:lnTo>
                    <a:pt x="3037033" y="649106"/>
                  </a:lnTo>
                  <a:lnTo>
                    <a:pt x="0" y="6491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037033" cy="696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353744" y="5999917"/>
            <a:ext cx="3111747" cy="2464574"/>
            <a:chOff x="0" y="0"/>
            <a:chExt cx="819555" cy="6491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9555" cy="649106"/>
            </a:xfrm>
            <a:custGeom>
              <a:avLst/>
              <a:gdLst/>
              <a:ahLst/>
              <a:cxnLst/>
              <a:rect r="r" b="b" t="t" l="l"/>
              <a:pathLst>
                <a:path h="649106" w="819555">
                  <a:moveTo>
                    <a:pt x="0" y="0"/>
                  </a:moveTo>
                  <a:lnTo>
                    <a:pt x="819555" y="0"/>
                  </a:lnTo>
                  <a:lnTo>
                    <a:pt x="819555" y="649106"/>
                  </a:lnTo>
                  <a:lnTo>
                    <a:pt x="0" y="649106"/>
                  </a:lnTo>
                  <a:close/>
                </a:path>
              </a:pathLst>
            </a:custGeom>
            <a:solidFill>
              <a:srgbClr val="CFB15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9555" cy="696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22509" y="1822509"/>
            <a:ext cx="14642983" cy="4167654"/>
            <a:chOff x="0" y="0"/>
            <a:chExt cx="3856588" cy="10976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56588" cy="1097654"/>
            </a:xfrm>
            <a:custGeom>
              <a:avLst/>
              <a:gdLst/>
              <a:ahLst/>
              <a:cxnLst/>
              <a:rect r="r" b="b" t="t" l="l"/>
              <a:pathLst>
                <a:path h="1097654" w="3856588">
                  <a:moveTo>
                    <a:pt x="0" y="0"/>
                  </a:moveTo>
                  <a:lnTo>
                    <a:pt x="3856588" y="0"/>
                  </a:lnTo>
                  <a:lnTo>
                    <a:pt x="3856588" y="1097654"/>
                  </a:lnTo>
                  <a:lnTo>
                    <a:pt x="0" y="1097654"/>
                  </a:lnTo>
                  <a:close/>
                </a:path>
              </a:pathLst>
            </a:custGeom>
            <a:solidFill>
              <a:srgbClr val="0C0C0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856588" cy="1145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040376" y="6559937"/>
            <a:ext cx="1682226" cy="1314850"/>
            <a:chOff x="0" y="0"/>
            <a:chExt cx="7431387" cy="58084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31387" cy="5808472"/>
            </a:xfrm>
            <a:custGeom>
              <a:avLst/>
              <a:gdLst/>
              <a:ahLst/>
              <a:cxnLst/>
              <a:rect r="r" b="b" t="t" l="l"/>
              <a:pathLst>
                <a:path h="5808472" w="7431387">
                  <a:moveTo>
                    <a:pt x="4527152" y="5808472"/>
                  </a:moveTo>
                  <a:lnTo>
                    <a:pt x="3673077" y="4954397"/>
                  </a:lnTo>
                  <a:lnTo>
                    <a:pt x="5119353" y="3508121"/>
                  </a:lnTo>
                  <a:lnTo>
                    <a:pt x="0" y="3508121"/>
                  </a:lnTo>
                  <a:lnTo>
                    <a:pt x="0" y="2300224"/>
                  </a:lnTo>
                  <a:lnTo>
                    <a:pt x="5119226" y="2300224"/>
                  </a:lnTo>
                  <a:lnTo>
                    <a:pt x="3673077" y="854075"/>
                  </a:lnTo>
                  <a:lnTo>
                    <a:pt x="4527152" y="0"/>
                  </a:lnTo>
                  <a:lnTo>
                    <a:pt x="7431387" y="2904236"/>
                  </a:lnTo>
                  <a:lnTo>
                    <a:pt x="4527152" y="5808472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565399" y="4030160"/>
            <a:ext cx="13157203" cy="108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21"/>
              </a:lnSpc>
            </a:pPr>
            <a:r>
              <a:rPr lang="en-US" sz="8001">
                <a:solidFill>
                  <a:srgbClr val="FFEDED"/>
                </a:solidFill>
                <a:latin typeface="Quando"/>
                <a:ea typeface="Quando"/>
                <a:cs typeface="Quando"/>
                <a:sym typeface="Quando"/>
              </a:rPr>
              <a:t>Requirement Gathering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65399" y="6380677"/>
            <a:ext cx="10443664" cy="161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1"/>
              </a:lnSpc>
            </a:pPr>
            <a:r>
              <a:rPr lang="en-US" sz="309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Title:</a:t>
            </a:r>
          </a:p>
          <a:p>
            <a:pPr algn="l" marL="0" indent="0" lvl="0">
              <a:lnSpc>
                <a:spcPts val="4331"/>
              </a:lnSpc>
              <a:spcBef>
                <a:spcPct val="0"/>
              </a:spcBef>
            </a:pPr>
            <a:r>
              <a:rPr lang="en-US" sz="30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Design and Implementation of a Mobile App for Collection of QoE Data from Mobile Network Subscribers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65399" y="3071017"/>
            <a:ext cx="13157203" cy="526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8"/>
              </a:lnSpc>
            </a:pPr>
            <a:r>
              <a:rPr lang="en-US" sz="3902">
                <a:solidFill>
                  <a:srgbClr val="FFEDED"/>
                </a:solidFill>
                <a:latin typeface="Quando"/>
                <a:ea typeface="Quando"/>
                <a:cs typeface="Quando"/>
                <a:sym typeface="Quando"/>
              </a:rPr>
              <a:t>Task 2: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373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2509" y="3946077"/>
            <a:ext cx="11531236" cy="4499862"/>
            <a:chOff x="0" y="0"/>
            <a:chExt cx="3037033" cy="11851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37033" cy="1185149"/>
            </a:xfrm>
            <a:custGeom>
              <a:avLst/>
              <a:gdLst/>
              <a:ahLst/>
              <a:cxnLst/>
              <a:rect r="r" b="b" t="t" l="l"/>
              <a:pathLst>
                <a:path h="1185149" w="3037033">
                  <a:moveTo>
                    <a:pt x="0" y="0"/>
                  </a:moveTo>
                  <a:lnTo>
                    <a:pt x="3037033" y="0"/>
                  </a:lnTo>
                  <a:lnTo>
                    <a:pt x="3037033" y="1185149"/>
                  </a:lnTo>
                  <a:lnTo>
                    <a:pt x="0" y="118514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037033" cy="1232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22509" y="1822509"/>
            <a:ext cx="14642983" cy="2132366"/>
            <a:chOff x="0" y="0"/>
            <a:chExt cx="3856588" cy="5616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56588" cy="561611"/>
            </a:xfrm>
            <a:custGeom>
              <a:avLst/>
              <a:gdLst/>
              <a:ahLst/>
              <a:cxnLst/>
              <a:rect r="r" b="b" t="t" l="l"/>
              <a:pathLst>
                <a:path h="561611" w="3856588">
                  <a:moveTo>
                    <a:pt x="0" y="0"/>
                  </a:moveTo>
                  <a:lnTo>
                    <a:pt x="3856588" y="0"/>
                  </a:lnTo>
                  <a:lnTo>
                    <a:pt x="3856588" y="561611"/>
                  </a:lnTo>
                  <a:lnTo>
                    <a:pt x="0" y="561611"/>
                  </a:lnTo>
                  <a:close/>
                </a:path>
              </a:pathLst>
            </a:custGeom>
            <a:solidFill>
              <a:srgbClr val="0C0C0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56588" cy="609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068505" y="6315491"/>
            <a:ext cx="1682226" cy="1314850"/>
            <a:chOff x="0" y="0"/>
            <a:chExt cx="7431387" cy="5808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31387" cy="5808472"/>
            </a:xfrm>
            <a:custGeom>
              <a:avLst/>
              <a:gdLst/>
              <a:ahLst/>
              <a:cxnLst/>
              <a:rect r="r" b="b" t="t" l="l"/>
              <a:pathLst>
                <a:path h="5808472" w="7431387">
                  <a:moveTo>
                    <a:pt x="4527152" y="5808472"/>
                  </a:moveTo>
                  <a:lnTo>
                    <a:pt x="3673077" y="4954397"/>
                  </a:lnTo>
                  <a:lnTo>
                    <a:pt x="5119353" y="3508121"/>
                  </a:lnTo>
                  <a:lnTo>
                    <a:pt x="0" y="3508121"/>
                  </a:lnTo>
                  <a:lnTo>
                    <a:pt x="0" y="2300224"/>
                  </a:lnTo>
                  <a:lnTo>
                    <a:pt x="5119226" y="2300224"/>
                  </a:lnTo>
                  <a:lnTo>
                    <a:pt x="3673077" y="854075"/>
                  </a:lnTo>
                  <a:lnTo>
                    <a:pt x="4527152" y="0"/>
                  </a:lnTo>
                  <a:lnTo>
                    <a:pt x="7431387" y="2904236"/>
                  </a:lnTo>
                  <a:lnTo>
                    <a:pt x="4527152" y="5808472"/>
                  </a:lnTo>
                  <a:close/>
                </a:path>
              </a:pathLst>
            </a:custGeom>
            <a:solidFill>
              <a:srgbClr val="CFB15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593528" y="2357644"/>
            <a:ext cx="13157203" cy="1204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57"/>
              </a:lnSpc>
            </a:pPr>
            <a:r>
              <a:rPr lang="en-US" sz="8901">
                <a:solidFill>
                  <a:srgbClr val="FFEDED"/>
                </a:solidFill>
                <a:latin typeface="Quando"/>
                <a:ea typeface="Quando"/>
                <a:cs typeface="Quando"/>
                <a:sym typeface="Quando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5989" y="4256810"/>
            <a:ext cx="9978232" cy="371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6513" indent="-293257" lvl="1">
              <a:lnSpc>
                <a:spcPts val="4971"/>
              </a:lnSpc>
              <a:buFont typeface="Arial"/>
              <a:buChar char="•"/>
            </a:pPr>
            <a:r>
              <a:rPr lang="en-US" sz="27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Building on the principles of Requirement Engineering</a:t>
            </a:r>
            <a:r>
              <a:rPr lang="en-US" b="true" sz="271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,</a:t>
            </a:r>
            <a:r>
              <a:rPr lang="en-US" sz="27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true" sz="271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Elicitation</a:t>
            </a:r>
            <a:r>
              <a:rPr lang="en-US" sz="27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was a key activity in this phase. </a:t>
            </a:r>
          </a:p>
          <a:p>
            <a:pPr algn="l">
              <a:lnSpc>
                <a:spcPts val="4971"/>
              </a:lnSpc>
            </a:pPr>
          </a:p>
          <a:p>
            <a:pPr algn="l" marL="586513" indent="-293257" lvl="1">
              <a:lnSpc>
                <a:spcPts val="4971"/>
              </a:lnSpc>
              <a:buFont typeface="Arial"/>
              <a:buChar char="•"/>
            </a:pPr>
            <a:r>
              <a:rPr lang="en-US" sz="27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Stakeholders were engaged to uncover their actual needs, expectations, and pain points. grounded in real-world insights from those who would interact with it most.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35704" y="2712467"/>
            <a:ext cx="8023596" cy="2295059"/>
            <a:chOff x="0" y="0"/>
            <a:chExt cx="2113210" cy="604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3210" cy="604460"/>
            </a:xfrm>
            <a:custGeom>
              <a:avLst/>
              <a:gdLst/>
              <a:ahLst/>
              <a:cxnLst/>
              <a:rect r="r" b="b" t="t" l="l"/>
              <a:pathLst>
                <a:path h="604460" w="2113210">
                  <a:moveTo>
                    <a:pt x="0" y="0"/>
                  </a:moveTo>
                  <a:lnTo>
                    <a:pt x="2113210" y="0"/>
                  </a:lnTo>
                  <a:lnTo>
                    <a:pt x="2113210" y="604460"/>
                  </a:lnTo>
                  <a:lnTo>
                    <a:pt x="0" y="6044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13210" cy="652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62600" y="5007526"/>
            <a:ext cx="8023596" cy="2188749"/>
            <a:chOff x="0" y="0"/>
            <a:chExt cx="2113210" cy="5764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13210" cy="576461"/>
            </a:xfrm>
            <a:custGeom>
              <a:avLst/>
              <a:gdLst/>
              <a:ahLst/>
              <a:cxnLst/>
              <a:rect r="r" b="b" t="t" l="l"/>
              <a:pathLst>
                <a:path h="576461" w="2113210">
                  <a:moveTo>
                    <a:pt x="0" y="0"/>
                  </a:moveTo>
                  <a:lnTo>
                    <a:pt x="2113210" y="0"/>
                  </a:lnTo>
                  <a:lnTo>
                    <a:pt x="2113210" y="576461"/>
                  </a:lnTo>
                  <a:lnTo>
                    <a:pt x="0" y="5764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13210" cy="624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0272" y="1063777"/>
            <a:ext cx="6842328" cy="3545021"/>
            <a:chOff x="0" y="0"/>
            <a:chExt cx="9123104" cy="472669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938322"/>
              <a:ext cx="9123104" cy="1788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b="true" sz="2599">
                  <a:solidFill>
                    <a:srgbClr val="CFB1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Stake</a:t>
              </a:r>
              <a:r>
                <a:rPr lang="en-US" b="true" sz="2599">
                  <a:solidFill>
                    <a:srgbClr val="CFB1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holders</a:t>
              </a:r>
              <a:r>
                <a:rPr lang="en-US" sz="2599">
                  <a:solidFill>
                    <a:srgbClr val="FFEDED"/>
                  </a:solidFill>
                  <a:latin typeface="DM Sans"/>
                  <a:ea typeface="DM Sans"/>
                  <a:cs typeface="DM Sans"/>
                  <a:sym typeface="DM Sans"/>
                </a:rPr>
                <a:t> refer to anyone involved in, impacted by, or can directly influence the project.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9123104" cy="2752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19"/>
                </a:lnSpc>
              </a:pPr>
              <a:r>
                <a:rPr lang="en-US" sz="6399">
                  <a:solidFill>
                    <a:srgbClr val="CFB15B"/>
                  </a:solidFill>
                  <a:latin typeface="Quando"/>
                  <a:ea typeface="Quando"/>
                  <a:cs typeface="Quando"/>
                  <a:sym typeface="Quando"/>
                </a:rPr>
                <a:t>Stakeholder </a:t>
              </a:r>
              <a:r>
                <a:rPr lang="en-US" sz="6399">
                  <a:solidFill>
                    <a:srgbClr val="FFEDED"/>
                  </a:solidFill>
                  <a:latin typeface="Quando"/>
                  <a:ea typeface="Quando"/>
                  <a:cs typeface="Quando"/>
                  <a:sym typeface="Quando"/>
                </a:rPr>
                <a:t>Identification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20501" y="3561527"/>
            <a:ext cx="5594156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9"/>
              </a:lnSpc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2. </a:t>
            </a:r>
            <a:r>
              <a:rPr lang="en-US" b="true" sz="2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External Stakeholders (End Users) : </a:t>
            </a: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Mobile Network Subscribers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20501" y="5472044"/>
            <a:ext cx="5594156" cy="121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3. </a:t>
            </a:r>
            <a:r>
              <a:rPr lang="en-US" b="true" sz="23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Key External Stakeholders (Mobile Network Providers ) : </a:t>
            </a: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Examples: Orange, MTN Cameroon, Camtel.</a:t>
            </a:r>
          </a:p>
        </p:txBody>
      </p:sp>
      <p:sp>
        <p:nvSpPr>
          <p:cNvPr name="TextBox 13" id="13"/>
          <p:cNvSpPr txBox="true"/>
          <p:nvPr/>
        </p:nvSpPr>
        <p:spPr>
          <a:xfrm rot="5400000">
            <a:off x="15482358" y="3659746"/>
            <a:ext cx="1952199" cy="74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sz="5499">
                <a:solidFill>
                  <a:srgbClr val="000000"/>
                </a:solidFill>
                <a:latin typeface="Quando"/>
                <a:ea typeface="Quando"/>
                <a:cs typeface="Quando"/>
                <a:sym typeface="Quando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-5400000">
            <a:off x="7814528" y="5958060"/>
            <a:ext cx="1649550" cy="74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sz="5499">
                <a:solidFill>
                  <a:srgbClr val="000000"/>
                </a:solidFill>
                <a:latin typeface="Quando"/>
                <a:ea typeface="Quando"/>
                <a:cs typeface="Quando"/>
                <a:sym typeface="Quando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762600" y="356255"/>
            <a:ext cx="8061573" cy="2480032"/>
            <a:chOff x="0" y="0"/>
            <a:chExt cx="10748764" cy="330670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698128" cy="3141616"/>
              <a:chOff x="0" y="0"/>
              <a:chExt cx="2113210" cy="62056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13210" cy="620566"/>
              </a:xfrm>
              <a:custGeom>
                <a:avLst/>
                <a:gdLst/>
                <a:ahLst/>
                <a:cxnLst/>
                <a:rect r="r" b="b" t="t" l="l"/>
                <a:pathLst>
                  <a:path h="620566" w="2113210">
                    <a:moveTo>
                      <a:pt x="0" y="0"/>
                    </a:moveTo>
                    <a:lnTo>
                      <a:pt x="2113210" y="0"/>
                    </a:lnTo>
                    <a:lnTo>
                      <a:pt x="2113210" y="620566"/>
                    </a:lnTo>
                    <a:lnTo>
                      <a:pt x="0" y="62056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2113210" cy="6681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66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-5400000">
              <a:off x="-149986" y="1327120"/>
              <a:ext cx="2602932" cy="1026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20"/>
                </a:lnSpc>
              </a:pPr>
              <a:r>
                <a:rPr lang="en-US" sz="5500">
                  <a:solidFill>
                    <a:srgbClr val="000000"/>
                  </a:solidFill>
                  <a:latin typeface="Quando"/>
                  <a:ea typeface="Quando"/>
                  <a:cs typeface="Quando"/>
                  <a:sym typeface="Quando"/>
                </a:rPr>
                <a:t>01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664511" y="358260"/>
              <a:ext cx="9084254" cy="2948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40140" indent="-270070" lvl="1">
                <a:lnSpc>
                  <a:spcPts val="3552"/>
                </a:lnSpc>
                <a:buAutoNum type="arabicPeriod" startAt="1"/>
              </a:pPr>
              <a:r>
                <a:rPr lang="en-US" b="true" sz="250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</a:t>
              </a:r>
              <a:r>
                <a:rPr lang="en-US" b="true" sz="2501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nternal Stakeholders (Development Team)</a:t>
              </a:r>
              <a:r>
                <a:rPr lang="en-US" sz="2501" u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:            UI/UX Designers,        Software Developers,     Project Managers</a:t>
              </a:r>
            </a:p>
            <a:p>
              <a:pPr algn="l">
                <a:lnSpc>
                  <a:spcPts val="3552"/>
                </a:lnSpc>
              </a:pPr>
            </a:p>
            <a:p>
              <a:pPr algn="l">
                <a:lnSpc>
                  <a:spcPts val="3552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235704" y="7196275"/>
            <a:ext cx="8023596" cy="2263370"/>
            <a:chOff x="0" y="0"/>
            <a:chExt cx="2113210" cy="5961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13210" cy="596114"/>
            </a:xfrm>
            <a:custGeom>
              <a:avLst/>
              <a:gdLst/>
              <a:ahLst/>
              <a:cxnLst/>
              <a:rect r="r" b="b" t="t" l="l"/>
              <a:pathLst>
                <a:path h="596114" w="2113210">
                  <a:moveTo>
                    <a:pt x="0" y="0"/>
                  </a:moveTo>
                  <a:lnTo>
                    <a:pt x="2113210" y="0"/>
                  </a:lnTo>
                  <a:lnTo>
                    <a:pt x="2113210" y="596114"/>
                  </a:lnTo>
                  <a:lnTo>
                    <a:pt x="0" y="5961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113210" cy="643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192040" y="7586800"/>
            <a:ext cx="5594156" cy="162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4. </a:t>
            </a:r>
            <a:r>
              <a:rPr lang="en-US" b="true" sz="23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Tertiary Stakeholders (Indirect Influence) : </a:t>
            </a: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Regulatory authorities, Academic Researchers, Investors or Sponsors.</a:t>
            </a:r>
          </a:p>
        </p:txBody>
      </p:sp>
      <p:sp>
        <p:nvSpPr>
          <p:cNvPr name="TextBox 25" id="25"/>
          <p:cNvSpPr txBox="true"/>
          <p:nvPr/>
        </p:nvSpPr>
        <p:spPr>
          <a:xfrm rot="5400000">
            <a:off x="15633682" y="8049764"/>
            <a:ext cx="1649550" cy="74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sz="5499">
                <a:solidFill>
                  <a:srgbClr val="000000"/>
                </a:solidFill>
                <a:latin typeface="Quando"/>
                <a:ea typeface="Quando"/>
                <a:cs typeface="Quando"/>
                <a:sym typeface="Quando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373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097" y="826849"/>
            <a:ext cx="17427983" cy="2158326"/>
            <a:chOff x="0" y="0"/>
            <a:chExt cx="4590086" cy="5684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0086" cy="568448"/>
            </a:xfrm>
            <a:custGeom>
              <a:avLst/>
              <a:gdLst/>
              <a:ahLst/>
              <a:cxnLst/>
              <a:rect r="r" b="b" t="t" l="l"/>
              <a:pathLst>
                <a:path h="568448" w="4590086">
                  <a:moveTo>
                    <a:pt x="0" y="0"/>
                  </a:moveTo>
                  <a:lnTo>
                    <a:pt x="4590086" y="0"/>
                  </a:lnTo>
                  <a:lnTo>
                    <a:pt x="4590086" y="568448"/>
                  </a:lnTo>
                  <a:lnTo>
                    <a:pt x="0" y="5684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90086" cy="6160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9097" y="2985174"/>
            <a:ext cx="17427983" cy="7110134"/>
            <a:chOff x="0" y="0"/>
            <a:chExt cx="9007143" cy="36746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07143" cy="3674665"/>
            </a:xfrm>
            <a:custGeom>
              <a:avLst/>
              <a:gdLst/>
              <a:ahLst/>
              <a:cxnLst/>
              <a:rect r="r" b="b" t="t" l="l"/>
              <a:pathLst>
                <a:path h="3674665" w="9007143">
                  <a:moveTo>
                    <a:pt x="0" y="0"/>
                  </a:moveTo>
                  <a:lnTo>
                    <a:pt x="9007143" y="0"/>
                  </a:lnTo>
                  <a:lnTo>
                    <a:pt x="9007143" y="3674665"/>
                  </a:lnTo>
                  <a:lnTo>
                    <a:pt x="0" y="3674665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000370" y="8692908"/>
            <a:ext cx="1706710" cy="1402400"/>
            <a:chOff x="0" y="0"/>
            <a:chExt cx="2275613" cy="186986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275613" cy="1869867"/>
              <a:chOff x="0" y="0"/>
              <a:chExt cx="1674790" cy="137617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674790" cy="1376172"/>
              </a:xfrm>
              <a:custGeom>
                <a:avLst/>
                <a:gdLst/>
                <a:ahLst/>
                <a:cxnLst/>
                <a:rect r="r" b="b" t="t" l="l"/>
                <a:pathLst>
                  <a:path h="1376172" w="1674790">
                    <a:moveTo>
                      <a:pt x="0" y="0"/>
                    </a:moveTo>
                    <a:lnTo>
                      <a:pt x="1674790" y="0"/>
                    </a:lnTo>
                    <a:lnTo>
                      <a:pt x="1674790" y="1376172"/>
                    </a:lnTo>
                    <a:lnTo>
                      <a:pt x="0" y="1376172"/>
                    </a:lnTo>
                    <a:close/>
                  </a:path>
                </a:pathLst>
              </a:custGeom>
              <a:solidFill>
                <a:srgbClr val="CFB15B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503820" y="363463"/>
              <a:ext cx="1267973" cy="1024396"/>
              <a:chOff x="0" y="0"/>
              <a:chExt cx="7189588" cy="580847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189588" cy="5808472"/>
              </a:xfrm>
              <a:custGeom>
                <a:avLst/>
                <a:gdLst/>
                <a:ahLst/>
                <a:cxnLst/>
                <a:rect r="r" b="b" t="t" l="l"/>
                <a:pathLst>
                  <a:path h="5808472" w="7189588">
                    <a:moveTo>
                      <a:pt x="4285352" y="5808472"/>
                    </a:moveTo>
                    <a:lnTo>
                      <a:pt x="3431277" y="4954397"/>
                    </a:lnTo>
                    <a:lnTo>
                      <a:pt x="4877553" y="3508121"/>
                    </a:lnTo>
                    <a:lnTo>
                      <a:pt x="0" y="3508121"/>
                    </a:lnTo>
                    <a:lnTo>
                      <a:pt x="0" y="2300224"/>
                    </a:lnTo>
                    <a:lnTo>
                      <a:pt x="4877426" y="2300224"/>
                    </a:lnTo>
                    <a:lnTo>
                      <a:pt x="3431277" y="854075"/>
                    </a:lnTo>
                    <a:lnTo>
                      <a:pt x="4285352" y="0"/>
                    </a:lnTo>
                    <a:lnTo>
                      <a:pt x="7189588" y="2904236"/>
                    </a:lnTo>
                    <a:lnTo>
                      <a:pt x="4285352" y="5808472"/>
                    </a:lnTo>
                    <a:close/>
                  </a:path>
                </a:pathLst>
              </a:custGeom>
              <a:solidFill>
                <a:srgbClr val="0C0C0C"/>
              </a:solidFill>
            </p:spPr>
          </p:sp>
        </p:grp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287166" y="3336208"/>
          <a:ext cx="14713203" cy="6181725"/>
        </p:xfrm>
        <a:graphic>
          <a:graphicData uri="http://schemas.openxmlformats.org/drawingml/2006/table">
            <a:tbl>
              <a:tblPr/>
              <a:tblGrid>
                <a:gridCol w="4912899"/>
                <a:gridCol w="9800305"/>
              </a:tblGrid>
              <a:tr h="8913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b="true" sz="2299" strike="noStrike" u="non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Software developers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Weekly meetings and clear task allocation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7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Project manager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planning and monitoring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7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UI/UX designers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Conduct user research to design user-friendly interfaces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7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End users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App onboarding and providing feedback reviews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7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Mobile network providers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Data-sharing agreements and providing the network service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7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Regulatory authorities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Provide access to final reports and compliance updates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7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Academic researchers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Optional data-sharing agreements under license terms.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877788" y="791289"/>
            <a:ext cx="16138319" cy="2169462"/>
            <a:chOff x="0" y="0"/>
            <a:chExt cx="21517759" cy="2892616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21517759" cy="1355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20"/>
                </a:lnSpc>
              </a:pPr>
              <a:r>
                <a:rPr lang="en-US" sz="6400">
                  <a:solidFill>
                    <a:srgbClr val="000000"/>
                  </a:solidFill>
                  <a:latin typeface="Quando"/>
                  <a:ea typeface="Quando"/>
                  <a:cs typeface="Quando"/>
                  <a:sym typeface="Quando"/>
                </a:rPr>
                <a:t>Stakeholder </a:t>
              </a:r>
              <a:r>
                <a:rPr lang="en-US" sz="6400">
                  <a:solidFill>
                    <a:srgbClr val="CFB15B"/>
                  </a:solidFill>
                  <a:latin typeface="Quando"/>
                  <a:ea typeface="Quando"/>
                  <a:cs typeface="Quando"/>
                  <a:sym typeface="Quando"/>
                </a:rPr>
                <a:t>Engagement Strategy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609492"/>
              <a:ext cx="21517759" cy="128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Methods  and communication practices used to involve stakeholders in the project at the right level and frequency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3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0008" y="401412"/>
            <a:ext cx="6861533" cy="9514313"/>
            <a:chOff x="0" y="0"/>
            <a:chExt cx="65199967" cy="904073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199964" cy="90407337"/>
            </a:xfrm>
            <a:custGeom>
              <a:avLst/>
              <a:gdLst/>
              <a:ahLst/>
              <a:cxnLst/>
              <a:rect r="r" b="b" t="t" l="l"/>
              <a:pathLst>
                <a:path h="90407337" w="65199964">
                  <a:moveTo>
                    <a:pt x="58408305" y="0"/>
                  </a:moveTo>
                  <a:lnTo>
                    <a:pt x="6791663" y="0"/>
                  </a:lnTo>
                  <a:cubicBezTo>
                    <a:pt x="3042665" y="0"/>
                    <a:pt x="0" y="4219009"/>
                    <a:pt x="0" y="9417431"/>
                  </a:cubicBezTo>
                  <a:lnTo>
                    <a:pt x="0" y="90407337"/>
                  </a:lnTo>
                  <a:lnTo>
                    <a:pt x="58408305" y="90407337"/>
                  </a:lnTo>
                  <a:cubicBezTo>
                    <a:pt x="62157304" y="90407337"/>
                    <a:pt x="65199964" y="86188327"/>
                    <a:pt x="65199964" y="80989903"/>
                  </a:cubicBezTo>
                  <a:lnTo>
                    <a:pt x="65199964" y="0"/>
                  </a:lnTo>
                  <a:lnTo>
                    <a:pt x="58408305" y="0"/>
                  </a:lnTo>
                  <a:close/>
                </a:path>
              </a:pathLst>
            </a:custGeom>
            <a:blipFill>
              <a:blip r:embed="rId2">
                <a:alphaModFix amt="53000"/>
              </a:blip>
              <a:stretch>
                <a:fillRect l="-88661" t="0" r="-8866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89318" y="1028700"/>
            <a:ext cx="9369982" cy="3238498"/>
            <a:chOff x="0" y="0"/>
            <a:chExt cx="2467814" cy="8529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67814" cy="852938"/>
            </a:xfrm>
            <a:custGeom>
              <a:avLst/>
              <a:gdLst/>
              <a:ahLst/>
              <a:cxnLst/>
              <a:rect r="r" b="b" t="t" l="l"/>
              <a:pathLst>
                <a:path h="852938" w="2467814">
                  <a:moveTo>
                    <a:pt x="0" y="0"/>
                  </a:moveTo>
                  <a:lnTo>
                    <a:pt x="2467814" y="0"/>
                  </a:lnTo>
                  <a:lnTo>
                    <a:pt x="2467814" y="852938"/>
                  </a:lnTo>
                  <a:lnTo>
                    <a:pt x="0" y="8529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467814" cy="900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384594" y="8451292"/>
            <a:ext cx="1874706" cy="1640497"/>
            <a:chOff x="0" y="0"/>
            <a:chExt cx="1572644" cy="13761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72644" cy="1376172"/>
            </a:xfrm>
            <a:custGeom>
              <a:avLst/>
              <a:gdLst/>
              <a:ahLst/>
              <a:cxnLst/>
              <a:rect r="r" b="b" t="t" l="l"/>
              <a:pathLst>
                <a:path h="1376172" w="1572644">
                  <a:moveTo>
                    <a:pt x="0" y="0"/>
                  </a:moveTo>
                  <a:lnTo>
                    <a:pt x="1572644" y="0"/>
                  </a:lnTo>
                  <a:lnTo>
                    <a:pt x="1572644" y="1376172"/>
                  </a:lnTo>
                  <a:lnTo>
                    <a:pt x="0" y="1376172"/>
                  </a:lnTo>
                  <a:close/>
                </a:path>
              </a:pathLst>
            </a:custGeom>
            <a:solidFill>
              <a:srgbClr val="CFB15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660990" y="8847750"/>
            <a:ext cx="1321914" cy="1067975"/>
            <a:chOff x="0" y="0"/>
            <a:chExt cx="7189588" cy="58084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89588" cy="5808472"/>
            </a:xfrm>
            <a:custGeom>
              <a:avLst/>
              <a:gdLst/>
              <a:ahLst/>
              <a:cxnLst/>
              <a:rect r="r" b="b" t="t" l="l"/>
              <a:pathLst>
                <a:path h="5808472" w="7189588">
                  <a:moveTo>
                    <a:pt x="4285352" y="5808472"/>
                  </a:moveTo>
                  <a:lnTo>
                    <a:pt x="3431277" y="4954397"/>
                  </a:lnTo>
                  <a:lnTo>
                    <a:pt x="4877553" y="3508121"/>
                  </a:lnTo>
                  <a:lnTo>
                    <a:pt x="0" y="3508121"/>
                  </a:lnTo>
                  <a:lnTo>
                    <a:pt x="0" y="2300224"/>
                  </a:lnTo>
                  <a:lnTo>
                    <a:pt x="4877426" y="2300224"/>
                  </a:lnTo>
                  <a:lnTo>
                    <a:pt x="3431277" y="854075"/>
                  </a:lnTo>
                  <a:lnTo>
                    <a:pt x="4285352" y="0"/>
                  </a:lnTo>
                  <a:lnTo>
                    <a:pt x="7189588" y="2904236"/>
                  </a:lnTo>
                  <a:lnTo>
                    <a:pt x="4285352" y="5808472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89318" y="4271581"/>
            <a:ext cx="9369982" cy="4080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3"/>
              </a:lnSpc>
            </a:pPr>
            <a:r>
              <a:rPr lang="en-US" sz="2933">
                <a:solidFill>
                  <a:srgbClr val="FFEDED"/>
                </a:solidFill>
                <a:latin typeface="DM Sans"/>
                <a:ea typeface="DM Sans"/>
                <a:cs typeface="DM Sans"/>
                <a:sym typeface="DM Sans"/>
              </a:rPr>
              <a:t>The different techniques employed in the gathering of requirements for the development</a:t>
            </a:r>
            <a:r>
              <a:rPr lang="en-US" sz="2933" b="true">
                <a:solidFill>
                  <a:srgbClr val="FFEDED"/>
                </a:solidFill>
                <a:latin typeface="DM Sans Bold"/>
                <a:ea typeface="DM Sans Bold"/>
                <a:cs typeface="DM Sans Bold"/>
                <a:sym typeface="DM Sans Bold"/>
              </a:rPr>
              <a:t> of the QoE (Quality of Experience) Mobile App </a:t>
            </a:r>
            <a:r>
              <a:rPr lang="en-US" sz="2933">
                <a:solidFill>
                  <a:srgbClr val="FFEDED"/>
                </a:solidFill>
                <a:latin typeface="DM Sans"/>
                <a:ea typeface="DM Sans"/>
                <a:cs typeface="DM Sans"/>
                <a:sym typeface="DM Sans"/>
              </a:rPr>
              <a:t> include:</a:t>
            </a:r>
          </a:p>
          <a:p>
            <a:pPr algn="l" marL="633347" indent="-316673" lvl="1">
              <a:lnSpc>
                <a:spcPts val="4693"/>
              </a:lnSpc>
              <a:buFont typeface="Arial"/>
              <a:buChar char="•"/>
            </a:pPr>
            <a:r>
              <a:rPr lang="en-US" sz="2933">
                <a:solidFill>
                  <a:srgbClr val="FFEDED"/>
                </a:solidFill>
                <a:latin typeface="DM Sans"/>
                <a:ea typeface="DM Sans"/>
                <a:cs typeface="DM Sans"/>
                <a:sym typeface="DM Sans"/>
              </a:rPr>
              <a:t>Document Analysis</a:t>
            </a:r>
          </a:p>
          <a:p>
            <a:pPr algn="l" marL="633347" indent="-316673" lvl="1">
              <a:lnSpc>
                <a:spcPts val="4693"/>
              </a:lnSpc>
              <a:buFont typeface="Arial"/>
              <a:buChar char="•"/>
            </a:pPr>
            <a:r>
              <a:rPr lang="en-US" sz="2933">
                <a:solidFill>
                  <a:srgbClr val="FFEDED"/>
                </a:solidFill>
                <a:latin typeface="DM Sans"/>
                <a:ea typeface="DM Sans"/>
                <a:cs typeface="DM Sans"/>
                <a:sym typeface="DM Sans"/>
              </a:rPr>
              <a:t>Surveys and Questionnaires</a:t>
            </a:r>
          </a:p>
          <a:p>
            <a:pPr algn="l" marL="633347" indent="-316673" lvl="1">
              <a:lnSpc>
                <a:spcPts val="4693"/>
              </a:lnSpc>
              <a:buFont typeface="Arial"/>
              <a:buChar char="•"/>
            </a:pPr>
            <a:r>
              <a:rPr lang="en-US" sz="2933">
                <a:solidFill>
                  <a:srgbClr val="FFEDED"/>
                </a:solidFill>
                <a:latin typeface="DM Sans"/>
                <a:ea typeface="DM Sans"/>
                <a:cs typeface="DM Sans"/>
                <a:sym typeface="DM Sans"/>
              </a:rPr>
              <a:t>Stakeholder Interviews (Network Providers)</a:t>
            </a:r>
          </a:p>
          <a:p>
            <a:pPr algn="l" marL="633347" indent="-316673" lvl="1">
              <a:lnSpc>
                <a:spcPts val="4693"/>
              </a:lnSpc>
              <a:buFont typeface="Arial"/>
              <a:buChar char="•"/>
            </a:pPr>
            <a:r>
              <a:rPr lang="en-US" sz="2933">
                <a:solidFill>
                  <a:srgbClr val="FFEDED"/>
                </a:solidFill>
                <a:latin typeface="DM Sans"/>
                <a:ea typeface="DM Sans"/>
                <a:cs typeface="DM Sans"/>
                <a:sym typeface="DM Sans"/>
              </a:rPr>
              <a:t>Brainstorming Sessions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36460" y="1616812"/>
            <a:ext cx="8674869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10"/>
              </a:lnSpc>
            </a:pPr>
            <a:r>
              <a:rPr lang="en-US" sz="5700">
                <a:solidFill>
                  <a:srgbClr val="000000"/>
                </a:solidFill>
                <a:latin typeface="Quando"/>
                <a:ea typeface="Quando"/>
                <a:cs typeface="Quando"/>
                <a:sym typeface="Quando"/>
              </a:rPr>
              <a:t>Requirement Gathering Techniques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373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63360" y="3752885"/>
            <a:ext cx="8294252" cy="3130742"/>
            <a:chOff x="0" y="0"/>
            <a:chExt cx="2184494" cy="8245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94" cy="824558"/>
            </a:xfrm>
            <a:custGeom>
              <a:avLst/>
              <a:gdLst/>
              <a:ahLst/>
              <a:cxnLst/>
              <a:rect r="r" b="b" t="t" l="l"/>
              <a:pathLst>
                <a:path h="824558" w="2184494">
                  <a:moveTo>
                    <a:pt x="0" y="0"/>
                  </a:moveTo>
                  <a:lnTo>
                    <a:pt x="2184494" y="0"/>
                  </a:lnTo>
                  <a:lnTo>
                    <a:pt x="2184494" y="824558"/>
                  </a:lnTo>
                  <a:lnTo>
                    <a:pt x="0" y="824558"/>
                  </a:lnTo>
                  <a:close/>
                </a:path>
              </a:pathLst>
            </a:custGeom>
            <a:solidFill>
              <a:srgbClr val="BF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84494" cy="872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6912202"/>
            <a:ext cx="8332972" cy="3051863"/>
            <a:chOff x="0" y="0"/>
            <a:chExt cx="2194692" cy="8037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692" cy="803783"/>
            </a:xfrm>
            <a:custGeom>
              <a:avLst/>
              <a:gdLst/>
              <a:ahLst/>
              <a:cxnLst/>
              <a:rect r="r" b="b" t="t" l="l"/>
              <a:pathLst>
                <a:path h="803783" w="2194692">
                  <a:moveTo>
                    <a:pt x="0" y="0"/>
                  </a:moveTo>
                  <a:lnTo>
                    <a:pt x="2194692" y="0"/>
                  </a:lnTo>
                  <a:lnTo>
                    <a:pt x="2194692" y="803783"/>
                  </a:lnTo>
                  <a:lnTo>
                    <a:pt x="0" y="803783"/>
                  </a:lnTo>
                  <a:close/>
                </a:path>
              </a:pathLst>
            </a:custGeom>
            <a:solidFill>
              <a:srgbClr val="0C0C0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692" cy="851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82721" y="345471"/>
            <a:ext cx="8294252" cy="3382261"/>
            <a:chOff x="0" y="0"/>
            <a:chExt cx="2184494" cy="8908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4494" cy="890801"/>
            </a:xfrm>
            <a:custGeom>
              <a:avLst/>
              <a:gdLst/>
              <a:ahLst/>
              <a:cxnLst/>
              <a:rect r="r" b="b" t="t" l="l"/>
              <a:pathLst>
                <a:path h="890801" w="2184494">
                  <a:moveTo>
                    <a:pt x="0" y="0"/>
                  </a:moveTo>
                  <a:lnTo>
                    <a:pt x="2184494" y="0"/>
                  </a:lnTo>
                  <a:lnTo>
                    <a:pt x="2184494" y="890801"/>
                  </a:lnTo>
                  <a:lnTo>
                    <a:pt x="0" y="890801"/>
                  </a:lnTo>
                  <a:close/>
                </a:path>
              </a:pathLst>
            </a:custGeom>
            <a:solidFill>
              <a:srgbClr val="0C0C0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84494" cy="93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345471"/>
            <a:ext cx="7834075" cy="9618593"/>
            <a:chOff x="0" y="0"/>
            <a:chExt cx="2063295" cy="25332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63296" cy="2533292"/>
            </a:xfrm>
            <a:custGeom>
              <a:avLst/>
              <a:gdLst/>
              <a:ahLst/>
              <a:cxnLst/>
              <a:rect r="r" b="b" t="t" l="l"/>
              <a:pathLst>
                <a:path h="2533292" w="2063296">
                  <a:moveTo>
                    <a:pt x="0" y="0"/>
                  </a:moveTo>
                  <a:lnTo>
                    <a:pt x="2063296" y="0"/>
                  </a:lnTo>
                  <a:lnTo>
                    <a:pt x="2063296" y="2533292"/>
                  </a:lnTo>
                  <a:lnTo>
                    <a:pt x="0" y="25332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063295" cy="25809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34399" y="1239822"/>
            <a:ext cx="7422678" cy="8065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0"/>
              </a:lnSpc>
            </a:pPr>
            <a:r>
              <a:rPr lang="en-US" sz="3007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I. </a:t>
            </a:r>
            <a:r>
              <a:rPr lang="en-US" sz="3007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Document Analysis</a:t>
            </a:r>
          </a:p>
          <a:p>
            <a:pPr algn="ctr">
              <a:lnSpc>
                <a:spcPts val="4510"/>
              </a:lnSpc>
            </a:pPr>
          </a:p>
          <a:p>
            <a:pPr algn="l" marL="568075" indent="-284038" lvl="1">
              <a:lnSpc>
                <a:spcPts val="3946"/>
              </a:lnSpc>
              <a:buFont typeface="Arial"/>
              <a:buChar char="•"/>
            </a:pPr>
            <a:r>
              <a:rPr lang="en-US" b="true" sz="263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Paper Title: </a:t>
            </a:r>
            <a:r>
              <a:rPr lang="en-US" sz="263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Modeling the Customer Experience Using Machine Learning for Optimizing the Performance of Telecommunications Networks. </a:t>
            </a:r>
            <a:r>
              <a:rPr lang="en-US" sz="2631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By Binele Abana et al. 2024</a:t>
            </a:r>
          </a:p>
          <a:p>
            <a:pPr algn="l">
              <a:lnSpc>
                <a:spcPts val="3946"/>
              </a:lnSpc>
            </a:pPr>
          </a:p>
          <a:p>
            <a:pPr algn="l" marL="568075" indent="-284038" lvl="1">
              <a:lnSpc>
                <a:spcPts val="3946"/>
              </a:lnSpc>
              <a:buFont typeface="Arial"/>
              <a:buChar char="•"/>
            </a:pPr>
            <a:r>
              <a:rPr lang="en-US" b="true" sz="263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Influence on Current Project:</a:t>
            </a:r>
          </a:p>
          <a:p>
            <a:pPr algn="l" marL="1136150" indent="-378717" lvl="2">
              <a:lnSpc>
                <a:spcPts val="3946"/>
              </a:lnSpc>
              <a:buFont typeface="Arial"/>
              <a:buChar char="⚬"/>
            </a:pPr>
            <a:r>
              <a:rPr lang="en-US" b="true" sz="263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QoS vs. QoE differences, Mean Opinion Score, Signal Strength, </a:t>
            </a:r>
            <a:r>
              <a:rPr lang="en-US" sz="263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and </a:t>
            </a:r>
            <a:r>
              <a:rPr lang="en-US" b="true" sz="263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Call drop rate</a:t>
            </a:r>
            <a:r>
              <a:rPr lang="en-US" sz="263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evaluation metrics.</a:t>
            </a:r>
          </a:p>
          <a:p>
            <a:pPr algn="l" marL="1136150" indent="-378717" lvl="2">
              <a:lnSpc>
                <a:spcPts val="3946"/>
              </a:lnSpc>
              <a:buFont typeface="Arial"/>
              <a:buChar char="⚬"/>
            </a:pPr>
            <a:r>
              <a:rPr lang="en-US" sz="263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These parameters enable us to evaluate better performance matrices to be considered, relating technical teams and end-users.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18961" y="4473148"/>
            <a:ext cx="6385531" cy="1693638"/>
            <a:chOff x="0" y="0"/>
            <a:chExt cx="8514041" cy="2258184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8514041" cy="1551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III. Stakeholder Interviews </a:t>
              </a:r>
            </a:p>
            <a:p>
              <a:pPr algn="ctr" marL="0" indent="0" lvl="0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(Network Providers)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550583"/>
              <a:ext cx="8514041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  <a:r>
                <a:rPr lang="en-US" sz="3199" i="true">
                  <a:solidFill>
                    <a:srgbClr val="FFFFFF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MTN Cameroon, Orange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818961" y="1681509"/>
            <a:ext cx="638553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</a:pPr>
            <a:r>
              <a:rPr lang="en-US" b="true" sz="3399">
                <a:solidFill>
                  <a:srgbClr val="FFEDED"/>
                </a:solidFill>
                <a:latin typeface="DM Sans Bold"/>
                <a:ea typeface="DM Sans Bold"/>
                <a:cs typeface="DM Sans Bold"/>
                <a:sym typeface="DM Sans Bold"/>
              </a:rPr>
              <a:t>II. Surveys and Questionnaires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18961" y="7626577"/>
            <a:ext cx="6813114" cy="1020538"/>
            <a:chOff x="0" y="0"/>
            <a:chExt cx="9084152" cy="1360717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66675"/>
              <a:ext cx="9084152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59"/>
                </a:lnSpc>
              </a:pPr>
              <a:r>
                <a:rPr lang="en-US" b="true" sz="3399">
                  <a:solidFill>
                    <a:srgbClr val="FFEDE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IV. Brainstorming Sessions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769533"/>
              <a:ext cx="9084152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sz="2700" i="true">
                  <a:solidFill>
                    <a:srgbClr val="FFEDED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Within Development Team(developers)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0908" y="2920891"/>
            <a:ext cx="8491386" cy="3399716"/>
            <a:chOff x="0" y="0"/>
            <a:chExt cx="2236414" cy="8953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6414" cy="895399"/>
            </a:xfrm>
            <a:custGeom>
              <a:avLst/>
              <a:gdLst/>
              <a:ahLst/>
              <a:cxnLst/>
              <a:rect r="r" b="b" t="t" l="l"/>
              <a:pathLst>
                <a:path h="895399" w="2236414">
                  <a:moveTo>
                    <a:pt x="0" y="0"/>
                  </a:moveTo>
                  <a:lnTo>
                    <a:pt x="2236414" y="0"/>
                  </a:lnTo>
                  <a:lnTo>
                    <a:pt x="2236414" y="895399"/>
                  </a:lnTo>
                  <a:lnTo>
                    <a:pt x="0" y="895399"/>
                  </a:lnTo>
                  <a:close/>
                </a:path>
              </a:pathLst>
            </a:custGeom>
            <a:solidFill>
              <a:srgbClr val="CFB15B">
                <a:alpha val="4784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236414" cy="943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35704" y="2920891"/>
            <a:ext cx="8023596" cy="3399716"/>
            <a:chOff x="0" y="0"/>
            <a:chExt cx="2113210" cy="8953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13210" cy="895399"/>
            </a:xfrm>
            <a:custGeom>
              <a:avLst/>
              <a:gdLst/>
              <a:ahLst/>
              <a:cxnLst/>
              <a:rect r="r" b="b" t="t" l="l"/>
              <a:pathLst>
                <a:path h="895399" w="2113210">
                  <a:moveTo>
                    <a:pt x="0" y="0"/>
                  </a:moveTo>
                  <a:lnTo>
                    <a:pt x="2113210" y="0"/>
                  </a:lnTo>
                  <a:lnTo>
                    <a:pt x="2113210" y="895399"/>
                  </a:lnTo>
                  <a:lnTo>
                    <a:pt x="0" y="8953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13210" cy="943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0908" y="6540051"/>
            <a:ext cx="8491386" cy="3219979"/>
            <a:chOff x="0" y="0"/>
            <a:chExt cx="2236414" cy="848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6414" cy="848060"/>
            </a:xfrm>
            <a:custGeom>
              <a:avLst/>
              <a:gdLst/>
              <a:ahLst/>
              <a:cxnLst/>
              <a:rect r="r" b="b" t="t" l="l"/>
              <a:pathLst>
                <a:path h="848060" w="2236414">
                  <a:moveTo>
                    <a:pt x="0" y="0"/>
                  </a:moveTo>
                  <a:lnTo>
                    <a:pt x="2236414" y="0"/>
                  </a:lnTo>
                  <a:lnTo>
                    <a:pt x="2236414" y="848060"/>
                  </a:lnTo>
                  <a:lnTo>
                    <a:pt x="0" y="8480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36414" cy="895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35704" y="6540051"/>
            <a:ext cx="8023596" cy="3219979"/>
            <a:chOff x="0" y="0"/>
            <a:chExt cx="2113210" cy="8480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13210" cy="848060"/>
            </a:xfrm>
            <a:custGeom>
              <a:avLst/>
              <a:gdLst/>
              <a:ahLst/>
              <a:cxnLst/>
              <a:rect r="r" b="b" t="t" l="l"/>
              <a:pathLst>
                <a:path h="848060" w="2113210">
                  <a:moveTo>
                    <a:pt x="0" y="0"/>
                  </a:moveTo>
                  <a:lnTo>
                    <a:pt x="2113210" y="0"/>
                  </a:lnTo>
                  <a:lnTo>
                    <a:pt x="2113210" y="848060"/>
                  </a:lnTo>
                  <a:lnTo>
                    <a:pt x="0" y="848060"/>
                  </a:lnTo>
                  <a:close/>
                </a:path>
              </a:pathLst>
            </a:custGeom>
            <a:solidFill>
              <a:srgbClr val="CFB15B">
                <a:alpha val="47843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13210" cy="895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862329" y="6922331"/>
            <a:ext cx="6725995" cy="2388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9"/>
              </a:lnSpc>
            </a:pPr>
            <a:r>
              <a:rPr lang="en-US" sz="2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End-User Questionnaire:</a:t>
            </a:r>
          </a:p>
          <a:p>
            <a:pPr algn="l" marL="561339" indent="-280669" lvl="1">
              <a:lnSpc>
                <a:spcPts val="3691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Network choice and usage frequency</a:t>
            </a:r>
          </a:p>
          <a:p>
            <a:pPr algn="l" marL="561339" indent="-280669" lvl="1">
              <a:lnSpc>
                <a:spcPts val="3691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Problem Statement</a:t>
            </a:r>
          </a:p>
          <a:p>
            <a:pPr algn="l" marL="561339" indent="-280669" lvl="1">
              <a:lnSpc>
                <a:spcPts val="3691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Affinity to App</a:t>
            </a:r>
          </a:p>
          <a:p>
            <a:pPr algn="l" marL="561339" indent="-280669" lvl="1">
              <a:lnSpc>
                <a:spcPts val="3691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App functioning concerns.... etc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224604" y="3356861"/>
            <a:ext cx="644808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>
            <a:off x="16588324" y="3356861"/>
            <a:ext cx="0" cy="644808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 flipH="true">
            <a:off x="16119580" y="9258300"/>
            <a:ext cx="644808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110959" y="8877544"/>
            <a:ext cx="761511" cy="76151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FB15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70908" y="804620"/>
            <a:ext cx="16982771" cy="1582871"/>
            <a:chOff x="0" y="0"/>
            <a:chExt cx="22643695" cy="2110494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1541322"/>
              <a:ext cx="22643695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This involved gathering feedback about the QoE from users of MTN, Orange and Camtel Comeroon.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66675"/>
              <a:ext cx="22643695" cy="1355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19"/>
                </a:lnSpc>
              </a:pPr>
              <a:r>
                <a:rPr lang="en-US" sz="6399">
                  <a:solidFill>
                    <a:srgbClr val="FFFFFF"/>
                  </a:solidFill>
                  <a:latin typeface="Quando"/>
                  <a:ea typeface="Quando"/>
                  <a:cs typeface="Quando"/>
                  <a:sym typeface="Quando"/>
                </a:rPr>
                <a:t>Data</a:t>
              </a:r>
              <a:r>
                <a:rPr lang="en-US" sz="6399">
                  <a:solidFill>
                    <a:srgbClr val="CFB15B"/>
                  </a:solidFill>
                  <a:latin typeface="Quando"/>
                  <a:ea typeface="Quando"/>
                  <a:cs typeface="Quando"/>
                  <a:sym typeface="Quando"/>
                </a:rPr>
                <a:t> Gathering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862329" y="3614922"/>
            <a:ext cx="6549931" cy="231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9"/>
              </a:lnSpc>
            </a:pPr>
            <a:r>
              <a:rPr lang="en-US" sz="29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Types of Data Collected</a:t>
            </a:r>
          </a:p>
          <a:p>
            <a:pPr algn="l" marL="539749" indent="-269875" lvl="1">
              <a:lnSpc>
                <a:spcPts val="35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Quantitative Data (e.g Satisfaction Ratings)</a:t>
            </a:r>
          </a:p>
          <a:p>
            <a:pPr algn="l" marL="539749" indent="-269875" lvl="1">
              <a:lnSpc>
                <a:spcPts val="35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Qualitative Data (e.g alternate behaviors to network issues)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4461" y="6931856"/>
            <a:ext cx="7411285" cy="259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6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Exisiting QoE Service Review (By Network Providers)</a:t>
            </a:r>
          </a:p>
          <a:p>
            <a:pPr algn="l" marL="496571" indent="-248285" lvl="1">
              <a:lnSpc>
                <a:spcPts val="3266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Customer Service Calls, </a:t>
            </a:r>
          </a:p>
          <a:p>
            <a:pPr algn="l" marL="496571" indent="-248285" lvl="1">
              <a:lnSpc>
                <a:spcPts val="3266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Whatsapp communications,</a:t>
            </a:r>
          </a:p>
          <a:p>
            <a:pPr algn="l" marL="496571" indent="-248285" lvl="1">
              <a:lnSpc>
                <a:spcPts val="3266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Word of Mouth feedback</a:t>
            </a:r>
          </a:p>
          <a:p>
            <a:pPr algn="l" marL="496571" indent="-248285" lvl="1">
              <a:lnSpc>
                <a:spcPts val="3266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Walk-in Complaints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73508" y="3852018"/>
            <a:ext cx="6813190" cy="95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0"/>
              </a:lnSpc>
            </a:pPr>
            <a:r>
              <a:rPr lang="en-US" sz="290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Data Collection Methodology</a:t>
            </a:r>
          </a:p>
          <a:p>
            <a:pPr algn="l" marL="540140" indent="-270070" lvl="1">
              <a:lnSpc>
                <a:spcPts val="3552"/>
              </a:lnSpc>
              <a:buFont typeface="Arial"/>
              <a:buChar char="•"/>
            </a:pPr>
            <a:r>
              <a:rPr lang="en-US" sz="250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Direct Interview approach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31648" y="1028700"/>
            <a:ext cx="7027652" cy="8229600"/>
            <a:chOff x="0" y="0"/>
            <a:chExt cx="2854611" cy="3342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4611" cy="3342839"/>
            </a:xfrm>
            <a:custGeom>
              <a:avLst/>
              <a:gdLst/>
              <a:ahLst/>
              <a:cxnLst/>
              <a:rect r="r" b="b" t="t" l="l"/>
              <a:pathLst>
                <a:path h="3342839" w="2854611">
                  <a:moveTo>
                    <a:pt x="0" y="0"/>
                  </a:moveTo>
                  <a:lnTo>
                    <a:pt x="2413736" y="0"/>
                  </a:lnTo>
                  <a:cubicBezTo>
                    <a:pt x="2657436" y="0"/>
                    <a:pt x="2854611" y="354604"/>
                    <a:pt x="2854611" y="792878"/>
                  </a:cubicBezTo>
                  <a:lnTo>
                    <a:pt x="2854611" y="3342839"/>
                  </a:lnTo>
                  <a:lnTo>
                    <a:pt x="0" y="3342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987" t="0" r="-379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9522515" cy="2709424"/>
            <a:chOff x="0" y="0"/>
            <a:chExt cx="2507987" cy="7135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07987" cy="713593"/>
            </a:xfrm>
            <a:custGeom>
              <a:avLst/>
              <a:gdLst/>
              <a:ahLst/>
              <a:cxnLst/>
              <a:rect r="r" b="b" t="t" l="l"/>
              <a:pathLst>
                <a:path h="713593" w="2507987">
                  <a:moveTo>
                    <a:pt x="0" y="0"/>
                  </a:moveTo>
                  <a:lnTo>
                    <a:pt x="2507987" y="0"/>
                  </a:lnTo>
                  <a:lnTo>
                    <a:pt x="2507987" y="713593"/>
                  </a:lnTo>
                  <a:lnTo>
                    <a:pt x="0" y="71359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507987" cy="761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423249" y="7162380"/>
            <a:ext cx="1836051" cy="2095920"/>
            <a:chOff x="0" y="0"/>
            <a:chExt cx="1840053" cy="21004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40053" cy="2100488"/>
            </a:xfrm>
            <a:custGeom>
              <a:avLst/>
              <a:gdLst/>
              <a:ahLst/>
              <a:cxnLst/>
              <a:rect r="r" b="b" t="t" l="l"/>
              <a:pathLst>
                <a:path h="2100488" w="1840053">
                  <a:moveTo>
                    <a:pt x="0" y="0"/>
                  </a:moveTo>
                  <a:lnTo>
                    <a:pt x="1840053" y="0"/>
                  </a:lnTo>
                  <a:lnTo>
                    <a:pt x="1840053" y="2100488"/>
                  </a:lnTo>
                  <a:lnTo>
                    <a:pt x="0" y="2100488"/>
                  </a:lnTo>
                  <a:close/>
                </a:path>
              </a:pathLst>
            </a:custGeom>
            <a:solidFill>
              <a:srgbClr val="BF0000">
                <a:alpha val="51765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3738124"/>
            <a:ext cx="9522515" cy="5520176"/>
            <a:chOff x="0" y="0"/>
            <a:chExt cx="5320316" cy="30841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20316" cy="3084173"/>
            </a:xfrm>
            <a:custGeom>
              <a:avLst/>
              <a:gdLst/>
              <a:ahLst/>
              <a:cxnLst/>
              <a:rect r="r" b="b" t="t" l="l"/>
              <a:pathLst>
                <a:path h="3084173" w="5320316">
                  <a:moveTo>
                    <a:pt x="0" y="0"/>
                  </a:moveTo>
                  <a:lnTo>
                    <a:pt x="5320316" y="0"/>
                  </a:lnTo>
                  <a:lnTo>
                    <a:pt x="5320316" y="3084173"/>
                  </a:lnTo>
                  <a:lnTo>
                    <a:pt x="0" y="30841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706732" y="7731792"/>
            <a:ext cx="1269084" cy="957097"/>
            <a:chOff x="0" y="0"/>
            <a:chExt cx="7701878" cy="58084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01878" cy="5808472"/>
            </a:xfrm>
            <a:custGeom>
              <a:avLst/>
              <a:gdLst/>
              <a:ahLst/>
              <a:cxnLst/>
              <a:rect r="r" b="b" t="t" l="l"/>
              <a:pathLst>
                <a:path h="5808472" w="7701878">
                  <a:moveTo>
                    <a:pt x="4797642" y="5808472"/>
                  </a:moveTo>
                  <a:lnTo>
                    <a:pt x="3943567" y="4954397"/>
                  </a:lnTo>
                  <a:lnTo>
                    <a:pt x="5389843" y="3508121"/>
                  </a:lnTo>
                  <a:lnTo>
                    <a:pt x="0" y="3508121"/>
                  </a:lnTo>
                  <a:lnTo>
                    <a:pt x="0" y="2300224"/>
                  </a:lnTo>
                  <a:lnTo>
                    <a:pt x="5389716" y="2300224"/>
                  </a:lnTo>
                  <a:lnTo>
                    <a:pt x="3943567" y="854075"/>
                  </a:lnTo>
                  <a:lnTo>
                    <a:pt x="4797642" y="0"/>
                  </a:lnTo>
                  <a:lnTo>
                    <a:pt x="7701878" y="2904236"/>
                  </a:lnTo>
                  <a:lnTo>
                    <a:pt x="4797642" y="58084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653336" y="3660034"/>
            <a:ext cx="8098554" cy="5265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511" indent="-268255" lvl="1">
              <a:lnSpc>
                <a:spcPts val="4721"/>
              </a:lnSpc>
              <a:buFont typeface="Arial"/>
              <a:buChar char="•"/>
            </a:pPr>
            <a:r>
              <a:rPr lang="en-US" sz="248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Low overall network usage satisfaction</a:t>
            </a:r>
          </a:p>
          <a:p>
            <a:pPr algn="l" marL="536511" indent="-268255" lvl="1">
              <a:lnSpc>
                <a:spcPts val="4721"/>
              </a:lnSpc>
              <a:buFont typeface="Arial"/>
              <a:buChar char="•"/>
            </a:pPr>
            <a:r>
              <a:rPr lang="en-US" sz="248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Frequent Connectivity Issues arise</a:t>
            </a:r>
          </a:p>
          <a:p>
            <a:pPr algn="l" marL="536511" indent="-268255" lvl="1">
              <a:lnSpc>
                <a:spcPts val="4721"/>
              </a:lnSpc>
              <a:buFont typeface="Arial"/>
              <a:buChar char="•"/>
            </a:pPr>
            <a:r>
              <a:rPr lang="en-US" sz="248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Common Frustrations include : Unreliable connections, Slow speeds, Expensive services.</a:t>
            </a:r>
          </a:p>
          <a:p>
            <a:pPr algn="l" marL="536511" indent="-268255" lvl="1">
              <a:lnSpc>
                <a:spcPts val="4721"/>
              </a:lnSpc>
              <a:buFont typeface="Arial"/>
              <a:buChar char="•"/>
            </a:pPr>
            <a:r>
              <a:rPr lang="en-US" sz="248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Coping behaviors are Toggling Airplane mode, Network Switching, Location changing.</a:t>
            </a:r>
          </a:p>
          <a:p>
            <a:pPr algn="l" marL="536511" indent="-268255" lvl="1">
              <a:lnSpc>
                <a:spcPts val="4721"/>
              </a:lnSpc>
              <a:buFont typeface="Arial"/>
              <a:buChar char="•"/>
            </a:pPr>
            <a:r>
              <a:rPr lang="en-US" sz="248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Existing QoE feedback methods are challenged with data validity concerns, hence causes false provider perceptions of their QoS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3336" y="1741110"/>
            <a:ext cx="7490664" cy="121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80"/>
              </a:lnSpc>
            </a:pPr>
            <a:r>
              <a:rPr lang="en-US" sz="7600">
                <a:solidFill>
                  <a:srgbClr val="000000"/>
                </a:solidFill>
                <a:latin typeface="Quando"/>
                <a:ea typeface="Quando"/>
                <a:cs typeface="Quando"/>
                <a:sym typeface="Quando"/>
              </a:rPr>
              <a:t>Key </a:t>
            </a:r>
            <a:r>
              <a:rPr lang="en-US" sz="7600">
                <a:solidFill>
                  <a:srgbClr val="CFB15B"/>
                </a:solidFill>
                <a:latin typeface="Quando"/>
                <a:ea typeface="Quando"/>
                <a:cs typeface="Quando"/>
                <a:sym typeface="Quando"/>
              </a:rPr>
              <a:t>Findings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373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2509" y="3946077"/>
            <a:ext cx="11531236" cy="4499862"/>
            <a:chOff x="0" y="0"/>
            <a:chExt cx="3037033" cy="11851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37033" cy="1185149"/>
            </a:xfrm>
            <a:custGeom>
              <a:avLst/>
              <a:gdLst/>
              <a:ahLst/>
              <a:cxnLst/>
              <a:rect r="r" b="b" t="t" l="l"/>
              <a:pathLst>
                <a:path h="1185149" w="3037033">
                  <a:moveTo>
                    <a:pt x="0" y="0"/>
                  </a:moveTo>
                  <a:lnTo>
                    <a:pt x="3037033" y="0"/>
                  </a:lnTo>
                  <a:lnTo>
                    <a:pt x="3037033" y="1185149"/>
                  </a:lnTo>
                  <a:lnTo>
                    <a:pt x="0" y="118514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037033" cy="1232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22509" y="1822509"/>
            <a:ext cx="14642983" cy="2132366"/>
            <a:chOff x="0" y="0"/>
            <a:chExt cx="3856588" cy="5616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56588" cy="561611"/>
            </a:xfrm>
            <a:custGeom>
              <a:avLst/>
              <a:gdLst/>
              <a:ahLst/>
              <a:cxnLst/>
              <a:rect r="r" b="b" t="t" l="l"/>
              <a:pathLst>
                <a:path h="561611" w="3856588">
                  <a:moveTo>
                    <a:pt x="0" y="0"/>
                  </a:moveTo>
                  <a:lnTo>
                    <a:pt x="3856588" y="0"/>
                  </a:lnTo>
                  <a:lnTo>
                    <a:pt x="3856588" y="561611"/>
                  </a:lnTo>
                  <a:lnTo>
                    <a:pt x="0" y="561611"/>
                  </a:lnTo>
                  <a:close/>
                </a:path>
              </a:pathLst>
            </a:custGeom>
            <a:solidFill>
              <a:srgbClr val="0C0C0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56588" cy="609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068505" y="6315491"/>
            <a:ext cx="1682226" cy="1314850"/>
            <a:chOff x="0" y="0"/>
            <a:chExt cx="7431387" cy="5808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31387" cy="5808472"/>
            </a:xfrm>
            <a:custGeom>
              <a:avLst/>
              <a:gdLst/>
              <a:ahLst/>
              <a:cxnLst/>
              <a:rect r="r" b="b" t="t" l="l"/>
              <a:pathLst>
                <a:path h="5808472" w="7431387">
                  <a:moveTo>
                    <a:pt x="4527152" y="5808472"/>
                  </a:moveTo>
                  <a:lnTo>
                    <a:pt x="3673077" y="4954397"/>
                  </a:lnTo>
                  <a:lnTo>
                    <a:pt x="5119353" y="3508121"/>
                  </a:lnTo>
                  <a:lnTo>
                    <a:pt x="0" y="3508121"/>
                  </a:lnTo>
                  <a:lnTo>
                    <a:pt x="0" y="2300224"/>
                  </a:lnTo>
                  <a:lnTo>
                    <a:pt x="5119226" y="2300224"/>
                  </a:lnTo>
                  <a:lnTo>
                    <a:pt x="3673077" y="854075"/>
                  </a:lnTo>
                  <a:lnTo>
                    <a:pt x="4527152" y="0"/>
                  </a:lnTo>
                  <a:lnTo>
                    <a:pt x="7431387" y="2904236"/>
                  </a:lnTo>
                  <a:lnTo>
                    <a:pt x="4527152" y="5808472"/>
                  </a:lnTo>
                  <a:close/>
                </a:path>
              </a:pathLst>
            </a:custGeom>
            <a:solidFill>
              <a:srgbClr val="CFB15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593528" y="2355339"/>
            <a:ext cx="13157203" cy="120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57"/>
              </a:lnSpc>
            </a:pPr>
            <a:r>
              <a:rPr lang="en-US" sz="8901">
                <a:solidFill>
                  <a:srgbClr val="FFEDED"/>
                </a:solidFill>
                <a:latin typeface="Quando"/>
                <a:ea typeface="Quando"/>
                <a:cs typeface="Quando"/>
                <a:sym typeface="Quando"/>
              </a:rPr>
              <a:t>Data </a:t>
            </a:r>
            <a:r>
              <a:rPr lang="en-US" sz="8901">
                <a:solidFill>
                  <a:srgbClr val="CFB15B"/>
                </a:solidFill>
                <a:latin typeface="Quando"/>
                <a:ea typeface="Quando"/>
                <a:cs typeface="Quando"/>
                <a:sym typeface="Quando"/>
              </a:rPr>
              <a:t>Cleaning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55693" y="4083352"/>
            <a:ext cx="10883391" cy="4018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7"/>
              </a:lnSpc>
            </a:pPr>
            <a:r>
              <a:rPr lang="en-US" sz="29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effectiveness of any data-driven application lies in the quality of its data, obtained through Data cleaning.</a:t>
            </a:r>
          </a:p>
          <a:p>
            <a:pPr algn="l">
              <a:lnSpc>
                <a:spcPts val="5387"/>
              </a:lnSpc>
            </a:pPr>
            <a:r>
              <a:rPr lang="en-US" sz="29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This process involved:</a:t>
            </a:r>
          </a:p>
          <a:p>
            <a:pPr algn="l" marL="635588" indent="-317794" lvl="1">
              <a:lnSpc>
                <a:spcPts val="5387"/>
              </a:lnSpc>
              <a:buFont typeface="Arial"/>
              <a:buChar char="•"/>
            </a:pPr>
            <a:r>
              <a:rPr lang="en-US" sz="29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Initial Data Review</a:t>
            </a:r>
          </a:p>
          <a:p>
            <a:pPr algn="l" marL="635588" indent="-317794" lvl="1">
              <a:lnSpc>
                <a:spcPts val="5387"/>
              </a:lnSpc>
              <a:buFont typeface="Arial"/>
              <a:buChar char="•"/>
            </a:pPr>
            <a:r>
              <a:rPr lang="en-US" sz="29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 Entry (Manual Entry, Digital Export)</a:t>
            </a:r>
          </a:p>
          <a:p>
            <a:pPr algn="l" marL="657177" indent="-328589" lvl="1">
              <a:lnSpc>
                <a:spcPts val="5570"/>
              </a:lnSpc>
              <a:buFont typeface="Arial"/>
              <a:buChar char="•"/>
            </a:pPr>
            <a:r>
              <a:rPr lang="en-US" sz="30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 Consolidation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0908" y="2920891"/>
            <a:ext cx="8491386" cy="3399716"/>
            <a:chOff x="0" y="0"/>
            <a:chExt cx="2236414" cy="8953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6414" cy="895399"/>
            </a:xfrm>
            <a:custGeom>
              <a:avLst/>
              <a:gdLst/>
              <a:ahLst/>
              <a:cxnLst/>
              <a:rect r="r" b="b" t="t" l="l"/>
              <a:pathLst>
                <a:path h="895399" w="2236414">
                  <a:moveTo>
                    <a:pt x="0" y="0"/>
                  </a:moveTo>
                  <a:lnTo>
                    <a:pt x="2236414" y="0"/>
                  </a:lnTo>
                  <a:lnTo>
                    <a:pt x="2236414" y="895399"/>
                  </a:lnTo>
                  <a:lnTo>
                    <a:pt x="0" y="895399"/>
                  </a:lnTo>
                  <a:close/>
                </a:path>
              </a:pathLst>
            </a:custGeom>
            <a:solidFill>
              <a:srgbClr val="CFB15B">
                <a:alpha val="4784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236414" cy="943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35704" y="2920891"/>
            <a:ext cx="8023596" cy="3399716"/>
            <a:chOff x="0" y="0"/>
            <a:chExt cx="2113210" cy="8953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13210" cy="895399"/>
            </a:xfrm>
            <a:custGeom>
              <a:avLst/>
              <a:gdLst/>
              <a:ahLst/>
              <a:cxnLst/>
              <a:rect r="r" b="b" t="t" l="l"/>
              <a:pathLst>
                <a:path h="895399" w="2113210">
                  <a:moveTo>
                    <a:pt x="0" y="0"/>
                  </a:moveTo>
                  <a:lnTo>
                    <a:pt x="2113210" y="0"/>
                  </a:lnTo>
                  <a:lnTo>
                    <a:pt x="2113210" y="895399"/>
                  </a:lnTo>
                  <a:lnTo>
                    <a:pt x="0" y="8953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13210" cy="943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23906" y="6540051"/>
            <a:ext cx="8023596" cy="3219979"/>
            <a:chOff x="0" y="0"/>
            <a:chExt cx="2113210" cy="848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13210" cy="848060"/>
            </a:xfrm>
            <a:custGeom>
              <a:avLst/>
              <a:gdLst/>
              <a:ahLst/>
              <a:cxnLst/>
              <a:rect r="r" b="b" t="t" l="l"/>
              <a:pathLst>
                <a:path h="848060" w="2113210">
                  <a:moveTo>
                    <a:pt x="0" y="0"/>
                  </a:moveTo>
                  <a:lnTo>
                    <a:pt x="2113210" y="0"/>
                  </a:lnTo>
                  <a:lnTo>
                    <a:pt x="2113210" y="848060"/>
                  </a:lnTo>
                  <a:lnTo>
                    <a:pt x="0" y="848060"/>
                  </a:lnTo>
                  <a:close/>
                </a:path>
              </a:pathLst>
            </a:custGeom>
            <a:solidFill>
              <a:srgbClr val="CFB15B">
                <a:alpha val="4784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13210" cy="895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781003" y="7468431"/>
            <a:ext cx="6725995" cy="173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7"/>
              </a:lnSpc>
            </a:pPr>
            <a:r>
              <a:rPr lang="en-US" b="true" sz="33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Removing duplicates</a:t>
            </a:r>
          </a:p>
          <a:p>
            <a:pPr algn="l" marL="690876" indent="-345438" lvl="1">
              <a:lnSpc>
                <a:spcPts val="4543"/>
              </a:lnSpc>
              <a:buFont typeface="Arial"/>
              <a:buChar char="•"/>
            </a:pPr>
            <a:r>
              <a:rPr lang="en-US" b="true" sz="3199" u="non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df.duplicated().sum(</a:t>
            </a:r>
            <a:r>
              <a:rPr lang="en-US" sz="3199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) to identify duplicate records</a:t>
            </a:r>
          </a:p>
        </p:txBody>
      </p:sp>
      <p:sp>
        <p:nvSpPr>
          <p:cNvPr name="AutoShape 12" id="12"/>
          <p:cNvSpPr/>
          <p:nvPr/>
        </p:nvSpPr>
        <p:spPr>
          <a:xfrm flipH="true">
            <a:off x="16119580" y="9258300"/>
            <a:ext cx="644808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570908" y="804620"/>
            <a:ext cx="16982771" cy="2094681"/>
            <a:chOff x="0" y="0"/>
            <a:chExt cx="22643695" cy="2792908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462371"/>
              <a:ext cx="22643695" cy="1330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9"/>
                </a:lnSpc>
              </a:pPr>
              <a:r>
                <a:rPr lang="en-US" sz="28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Tools Used:  </a:t>
              </a:r>
              <a:r>
                <a:rPr lang="en-US" sz="2899">
                  <a:solidFill>
                    <a:srgbClr val="CFB15B"/>
                  </a:solidFill>
                  <a:latin typeface="DM Sans"/>
                  <a:ea typeface="DM Sans"/>
                  <a:cs typeface="DM Sans"/>
                  <a:sym typeface="DM Sans"/>
                </a:rPr>
                <a:t> Python</a:t>
              </a:r>
              <a:r>
                <a:rPr lang="en-US" sz="28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(For automation and scalable cleaning)  , </a:t>
              </a:r>
            </a:p>
            <a:p>
              <a:pPr algn="l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CFB15B"/>
                  </a:solidFill>
                  <a:latin typeface="DM Sans"/>
                  <a:ea typeface="DM Sans"/>
                  <a:cs typeface="DM Sans"/>
                  <a:sym typeface="DM Sans"/>
                </a:rPr>
                <a:t>                       Microsoft Excel</a:t>
              </a:r>
              <a:r>
                <a:rPr lang="en-US" sz="28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(Manual inspections and corrections)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57150"/>
              <a:ext cx="22643695" cy="1276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00"/>
                </a:lnSpc>
              </a:pPr>
              <a:r>
                <a:rPr lang="en-US" sz="6000">
                  <a:solidFill>
                    <a:srgbClr val="FFFFFF"/>
                  </a:solidFill>
                  <a:latin typeface="Quando"/>
                  <a:ea typeface="Quando"/>
                  <a:cs typeface="Quando"/>
                  <a:sym typeface="Quando"/>
                </a:rPr>
                <a:t>Data</a:t>
              </a:r>
              <a:r>
                <a:rPr lang="en-US" sz="6000">
                  <a:solidFill>
                    <a:srgbClr val="CFB15B"/>
                  </a:solidFill>
                  <a:latin typeface="Quando"/>
                  <a:ea typeface="Quando"/>
                  <a:cs typeface="Quando"/>
                  <a:sym typeface="Quando"/>
                </a:rPr>
                <a:t> Cleaning Process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549017" y="4104581"/>
            <a:ext cx="7396971" cy="16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b="true" sz="338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Standardizing Text Entries</a:t>
            </a:r>
          </a:p>
          <a:p>
            <a:pPr algn="l" marL="609550" indent="-304775" lvl="1">
              <a:lnSpc>
                <a:spcPts val="4009"/>
              </a:lnSpc>
              <a:buFont typeface="Arial"/>
              <a:buChar char="•"/>
            </a:pPr>
            <a:r>
              <a:rPr lang="en-US" sz="282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Using NumPy Library functions e.g </a:t>
            </a:r>
            <a:r>
              <a:rPr lang="en-US" b="true" sz="282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pd.to_numeric()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7007" y="3797559"/>
            <a:ext cx="6994984" cy="2216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6"/>
              </a:lnSpc>
            </a:pPr>
            <a:r>
              <a:rPr lang="en-US" b="true" sz="320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Handling Missing Values</a:t>
            </a:r>
          </a:p>
          <a:p>
            <a:pPr algn="l" marL="669676" indent="-334838" lvl="1">
              <a:lnSpc>
                <a:spcPts val="4404"/>
              </a:lnSpc>
              <a:buFont typeface="Arial"/>
              <a:buChar char="•"/>
            </a:pPr>
            <a:r>
              <a:rPr lang="en-US" b="true" sz="310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10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Using Pandas Library functions </a:t>
            </a:r>
          </a:p>
          <a:p>
            <a:pPr algn="l">
              <a:lnSpc>
                <a:spcPts val="4404"/>
              </a:lnSpc>
            </a:pPr>
            <a:r>
              <a:rPr lang="en-US" sz="310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e.g </a:t>
            </a:r>
            <a:r>
              <a:rPr lang="en-US" b="true" sz="310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df.isnull().sum() , </a:t>
            </a:r>
            <a:r>
              <a:rPr lang="en-US" b="true" sz="3101" u="non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isinstance(x, str) else False).sum(),filla()</a:t>
            </a:r>
            <a:r>
              <a:rPr lang="en-US" sz="3101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0908" y="3025666"/>
            <a:ext cx="1952199" cy="74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sz="5500">
                <a:solidFill>
                  <a:srgbClr val="FFFFFF"/>
                </a:solidFill>
                <a:latin typeface="Quando"/>
                <a:ea typeface="Quando"/>
                <a:cs typeface="Quando"/>
                <a:sym typeface="Quando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35704" y="3025666"/>
            <a:ext cx="1952199" cy="74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sz="5500">
                <a:solidFill>
                  <a:srgbClr val="000000"/>
                </a:solidFill>
                <a:latin typeface="Quando"/>
                <a:ea typeface="Quando"/>
                <a:cs typeface="Quando"/>
                <a:sym typeface="Quando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23906" y="6625776"/>
            <a:ext cx="1952199" cy="74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sz="5500">
                <a:solidFill>
                  <a:srgbClr val="FFFFFF"/>
                </a:solidFill>
                <a:latin typeface="Quando"/>
                <a:ea typeface="Quando"/>
                <a:cs typeface="Quando"/>
                <a:sym typeface="Quando"/>
              </a:rPr>
              <a:t>03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3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81807" y="371275"/>
            <a:ext cx="1682226" cy="1314850"/>
            <a:chOff x="0" y="0"/>
            <a:chExt cx="7431387" cy="5808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31387" cy="5808472"/>
            </a:xfrm>
            <a:custGeom>
              <a:avLst/>
              <a:gdLst/>
              <a:ahLst/>
              <a:cxnLst/>
              <a:rect r="r" b="b" t="t" l="l"/>
              <a:pathLst>
                <a:path h="5808472" w="7431387">
                  <a:moveTo>
                    <a:pt x="4527152" y="5808472"/>
                  </a:moveTo>
                  <a:lnTo>
                    <a:pt x="3673077" y="4954397"/>
                  </a:lnTo>
                  <a:lnTo>
                    <a:pt x="5119353" y="3508121"/>
                  </a:lnTo>
                  <a:lnTo>
                    <a:pt x="0" y="3508121"/>
                  </a:lnTo>
                  <a:lnTo>
                    <a:pt x="0" y="2300224"/>
                  </a:lnTo>
                  <a:lnTo>
                    <a:pt x="5119226" y="2300224"/>
                  </a:lnTo>
                  <a:lnTo>
                    <a:pt x="3673077" y="854075"/>
                  </a:lnTo>
                  <a:lnTo>
                    <a:pt x="4527152" y="0"/>
                  </a:lnTo>
                  <a:lnTo>
                    <a:pt x="7431387" y="2904236"/>
                  </a:lnTo>
                  <a:lnTo>
                    <a:pt x="4527152" y="5808472"/>
                  </a:lnTo>
                  <a:close/>
                </a:path>
              </a:pathLst>
            </a:custGeom>
            <a:solidFill>
              <a:srgbClr val="CFB15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97532" y="1240931"/>
            <a:ext cx="14110657" cy="5062198"/>
          </a:xfrm>
          <a:custGeom>
            <a:avLst/>
            <a:gdLst/>
            <a:ahLst/>
            <a:cxnLst/>
            <a:rect r="r" b="b" t="t" l="l"/>
            <a:pathLst>
              <a:path h="5062198" w="14110657">
                <a:moveTo>
                  <a:pt x="0" y="0"/>
                </a:moveTo>
                <a:lnTo>
                  <a:pt x="14110657" y="0"/>
                </a:lnTo>
                <a:lnTo>
                  <a:pt x="14110657" y="5062199"/>
                </a:lnTo>
                <a:lnTo>
                  <a:pt x="0" y="5062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37881" y="4546855"/>
            <a:ext cx="15026152" cy="5541460"/>
          </a:xfrm>
          <a:custGeom>
            <a:avLst/>
            <a:gdLst/>
            <a:ahLst/>
            <a:cxnLst/>
            <a:rect r="r" b="b" t="t" l="l"/>
            <a:pathLst>
              <a:path h="5541460" w="15026152">
                <a:moveTo>
                  <a:pt x="0" y="0"/>
                </a:moveTo>
                <a:lnTo>
                  <a:pt x="15026152" y="0"/>
                </a:lnTo>
                <a:lnTo>
                  <a:pt x="15026152" y="5541460"/>
                </a:lnTo>
                <a:lnTo>
                  <a:pt x="0" y="5541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3" r="0" b="-33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7532" y="212192"/>
            <a:ext cx="15436791" cy="102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2"/>
              </a:lnSpc>
            </a:pPr>
            <a:r>
              <a:rPr lang="en-US" sz="7501">
                <a:solidFill>
                  <a:srgbClr val="FFEDED"/>
                </a:solidFill>
                <a:latin typeface="Quando"/>
                <a:ea typeface="Quando"/>
                <a:cs typeface="Quando"/>
                <a:sym typeface="Quando"/>
              </a:rPr>
              <a:t>Data </a:t>
            </a:r>
            <a:r>
              <a:rPr lang="en-US" sz="7501">
                <a:solidFill>
                  <a:srgbClr val="FFFFFF"/>
                </a:solidFill>
                <a:latin typeface="Quando"/>
                <a:ea typeface="Quando"/>
                <a:cs typeface="Quando"/>
                <a:sym typeface="Quando"/>
              </a:rPr>
              <a:t>Cleaning </a:t>
            </a:r>
            <a:r>
              <a:rPr lang="en-US" sz="7501">
                <a:solidFill>
                  <a:srgbClr val="CFB15B"/>
                </a:solidFill>
                <a:latin typeface="Quando"/>
                <a:ea typeface="Quando"/>
                <a:cs typeface="Quando"/>
                <a:sym typeface="Quando"/>
              </a:rPr>
              <a:t>Results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8115300" cy="208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19"/>
              </a:lnSpc>
            </a:pPr>
            <a:r>
              <a:rPr lang="en-US" sz="6399">
                <a:solidFill>
                  <a:srgbClr val="FFEDED"/>
                </a:solidFill>
                <a:latin typeface="Quando"/>
                <a:ea typeface="Quando"/>
                <a:cs typeface="Quando"/>
                <a:sym typeface="Quando"/>
              </a:rPr>
              <a:t>User </a:t>
            </a:r>
            <a:r>
              <a:rPr lang="en-US" sz="6399">
                <a:solidFill>
                  <a:srgbClr val="CFB15B"/>
                </a:solidFill>
                <a:latin typeface="Quando"/>
                <a:ea typeface="Quando"/>
                <a:cs typeface="Quando"/>
                <a:sym typeface="Quando"/>
              </a:rPr>
              <a:t>Reluctance</a:t>
            </a:r>
            <a:r>
              <a:rPr lang="en-US" sz="6399">
                <a:solidFill>
                  <a:srgbClr val="FFEDED"/>
                </a:solidFill>
                <a:latin typeface="Quando"/>
                <a:ea typeface="Quando"/>
                <a:cs typeface="Quando"/>
                <a:sym typeface="Quando"/>
              </a:rPr>
              <a:t> Accessment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245868"/>
            <a:ext cx="7491315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FFEDED"/>
                </a:solidFill>
                <a:latin typeface="Quando"/>
                <a:ea typeface="Quando"/>
                <a:cs typeface="Quando"/>
                <a:sym typeface="Quando"/>
              </a:rPr>
              <a:t>Hesitation exhibited by potential users towards technological solution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711210" y="1179612"/>
            <a:ext cx="8023596" cy="1863308"/>
            <a:chOff x="0" y="0"/>
            <a:chExt cx="2113210" cy="4907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3210" cy="490748"/>
            </a:xfrm>
            <a:custGeom>
              <a:avLst/>
              <a:gdLst/>
              <a:ahLst/>
              <a:cxnLst/>
              <a:rect r="r" b="b" t="t" l="l"/>
              <a:pathLst>
                <a:path h="490748" w="2113210">
                  <a:moveTo>
                    <a:pt x="0" y="0"/>
                  </a:moveTo>
                  <a:lnTo>
                    <a:pt x="2113210" y="0"/>
                  </a:lnTo>
                  <a:lnTo>
                    <a:pt x="2113210" y="490748"/>
                  </a:lnTo>
                  <a:lnTo>
                    <a:pt x="0" y="4907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13210" cy="538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-5400000">
            <a:off x="9194894" y="1781654"/>
            <a:ext cx="1952199" cy="74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sz="5500">
                <a:solidFill>
                  <a:srgbClr val="000000"/>
                </a:solidFill>
                <a:latin typeface="Quando"/>
                <a:ea typeface="Quando"/>
                <a:cs typeface="Quando"/>
                <a:sym typeface="Quando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58377" y="1838490"/>
            <a:ext cx="6813190" cy="558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6"/>
              </a:lnSpc>
            </a:pPr>
            <a:r>
              <a:rPr lang="en-US" b="true" sz="320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Privacy Concerns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772958" y="3042920"/>
            <a:ext cx="7720898" cy="2267322"/>
            <a:chOff x="0" y="0"/>
            <a:chExt cx="10294530" cy="302309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294530" cy="3023096"/>
              <a:chOff x="0" y="0"/>
              <a:chExt cx="2113210" cy="62056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113210" cy="620566"/>
              </a:xfrm>
              <a:custGeom>
                <a:avLst/>
                <a:gdLst/>
                <a:ahLst/>
                <a:cxnLst/>
                <a:rect r="r" b="b" t="t" l="l"/>
                <a:pathLst>
                  <a:path h="620566" w="2113210">
                    <a:moveTo>
                      <a:pt x="0" y="0"/>
                    </a:moveTo>
                    <a:lnTo>
                      <a:pt x="2113210" y="0"/>
                    </a:lnTo>
                    <a:lnTo>
                      <a:pt x="2113210" y="620566"/>
                    </a:lnTo>
                    <a:lnTo>
                      <a:pt x="0" y="62056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2113210" cy="6681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65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21516" y="1135635"/>
              <a:ext cx="8741541" cy="685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75"/>
                </a:lnSpc>
              </a:pPr>
              <a:r>
                <a:rPr lang="en-US" b="true" sz="308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Technical and Design Barriers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5400000">
              <a:off x="8070483" y="1014726"/>
              <a:ext cx="2504733" cy="9936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04"/>
                </a:lnSpc>
              </a:pPr>
              <a:r>
                <a:rPr lang="en-US" sz="5292">
                  <a:solidFill>
                    <a:srgbClr val="000000"/>
                  </a:solidFill>
                  <a:latin typeface="Quando"/>
                  <a:ea typeface="Quando"/>
                  <a:cs typeface="Quando"/>
                  <a:sym typeface="Quando"/>
                </a:rPr>
                <a:t>02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72958" y="7173550"/>
            <a:ext cx="8023596" cy="2356212"/>
            <a:chOff x="0" y="0"/>
            <a:chExt cx="10698128" cy="314161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698128" cy="3141616"/>
              <a:chOff x="0" y="0"/>
              <a:chExt cx="2113210" cy="62056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13210" cy="620566"/>
              </a:xfrm>
              <a:custGeom>
                <a:avLst/>
                <a:gdLst/>
                <a:ahLst/>
                <a:cxnLst/>
                <a:rect r="r" b="b" t="t" l="l"/>
                <a:pathLst>
                  <a:path h="620566" w="2113210">
                    <a:moveTo>
                      <a:pt x="0" y="0"/>
                    </a:moveTo>
                    <a:lnTo>
                      <a:pt x="2113210" y="0"/>
                    </a:lnTo>
                    <a:lnTo>
                      <a:pt x="2113210" y="620566"/>
                    </a:lnTo>
                    <a:lnTo>
                      <a:pt x="0" y="62056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2113210" cy="6681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66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38041" y="792247"/>
              <a:ext cx="9084254" cy="1480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46"/>
                </a:lnSpc>
              </a:pPr>
              <a:r>
                <a:rPr lang="en-US" b="true" sz="320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Resource Consumption </a:t>
              </a:r>
            </a:p>
            <a:p>
              <a:pPr algn="ctr">
                <a:lnSpc>
                  <a:spcPts val="4546"/>
                </a:lnSpc>
              </a:pPr>
              <a:r>
                <a:rPr lang="en-US" b="true" sz="320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concerns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5400000">
              <a:off x="8383617" y="1057778"/>
              <a:ext cx="2602932" cy="1026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20"/>
                </a:lnSpc>
              </a:pPr>
              <a:r>
                <a:rPr lang="en-US" sz="5500">
                  <a:solidFill>
                    <a:srgbClr val="000000"/>
                  </a:solidFill>
                  <a:latin typeface="Quando"/>
                  <a:ea typeface="Quando"/>
                  <a:cs typeface="Quando"/>
                  <a:sym typeface="Quando"/>
                </a:rPr>
                <a:t>04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11210" y="5310242"/>
            <a:ext cx="8023596" cy="1863308"/>
            <a:chOff x="0" y="0"/>
            <a:chExt cx="2113210" cy="4907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13210" cy="490748"/>
            </a:xfrm>
            <a:custGeom>
              <a:avLst/>
              <a:gdLst/>
              <a:ahLst/>
              <a:cxnLst/>
              <a:rect r="r" b="b" t="t" l="l"/>
              <a:pathLst>
                <a:path h="490748" w="2113210">
                  <a:moveTo>
                    <a:pt x="0" y="0"/>
                  </a:moveTo>
                  <a:lnTo>
                    <a:pt x="2113210" y="0"/>
                  </a:lnTo>
                  <a:lnTo>
                    <a:pt x="2113210" y="490748"/>
                  </a:lnTo>
                  <a:lnTo>
                    <a:pt x="0" y="4907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113210" cy="538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-5400000">
            <a:off x="9194894" y="5823394"/>
            <a:ext cx="1952199" cy="74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sz="5500">
                <a:solidFill>
                  <a:srgbClr val="000000"/>
                </a:solidFill>
                <a:latin typeface="Quando"/>
                <a:ea typeface="Quando"/>
                <a:cs typeface="Quando"/>
                <a:sym typeface="Quando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545050" y="5595992"/>
            <a:ext cx="6813190" cy="1129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6"/>
              </a:lnSpc>
            </a:pPr>
            <a:r>
              <a:rPr lang="en-US" b="true" sz="320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Trust Deficit with Network Operators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0493" y="2218835"/>
            <a:ext cx="8491386" cy="3710027"/>
            <a:chOff x="0" y="0"/>
            <a:chExt cx="2236414" cy="9771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6414" cy="977127"/>
            </a:xfrm>
            <a:custGeom>
              <a:avLst/>
              <a:gdLst/>
              <a:ahLst/>
              <a:cxnLst/>
              <a:rect r="r" b="b" t="t" l="l"/>
              <a:pathLst>
                <a:path h="977127" w="2236414">
                  <a:moveTo>
                    <a:pt x="0" y="0"/>
                  </a:moveTo>
                  <a:lnTo>
                    <a:pt x="2236414" y="0"/>
                  </a:lnTo>
                  <a:lnTo>
                    <a:pt x="2236414" y="977127"/>
                  </a:lnTo>
                  <a:lnTo>
                    <a:pt x="0" y="977127"/>
                  </a:lnTo>
                  <a:close/>
                </a:path>
              </a:pathLst>
            </a:custGeom>
            <a:solidFill>
              <a:srgbClr val="CFB15B">
                <a:alpha val="4784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236414" cy="1024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35704" y="2218835"/>
            <a:ext cx="8023596" cy="3710027"/>
            <a:chOff x="0" y="0"/>
            <a:chExt cx="2113210" cy="9771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13210" cy="977127"/>
            </a:xfrm>
            <a:custGeom>
              <a:avLst/>
              <a:gdLst/>
              <a:ahLst/>
              <a:cxnLst/>
              <a:rect r="r" b="b" t="t" l="l"/>
              <a:pathLst>
                <a:path h="977127" w="2113210">
                  <a:moveTo>
                    <a:pt x="0" y="0"/>
                  </a:moveTo>
                  <a:lnTo>
                    <a:pt x="2113210" y="0"/>
                  </a:lnTo>
                  <a:lnTo>
                    <a:pt x="2113210" y="977127"/>
                  </a:lnTo>
                  <a:lnTo>
                    <a:pt x="0" y="9771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13210" cy="1024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0908" y="6137619"/>
            <a:ext cx="8491386" cy="3622411"/>
            <a:chOff x="0" y="0"/>
            <a:chExt cx="2236414" cy="9540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6414" cy="954051"/>
            </a:xfrm>
            <a:custGeom>
              <a:avLst/>
              <a:gdLst/>
              <a:ahLst/>
              <a:cxnLst/>
              <a:rect r="r" b="b" t="t" l="l"/>
              <a:pathLst>
                <a:path h="954051" w="2236414">
                  <a:moveTo>
                    <a:pt x="0" y="0"/>
                  </a:moveTo>
                  <a:lnTo>
                    <a:pt x="2236414" y="0"/>
                  </a:lnTo>
                  <a:lnTo>
                    <a:pt x="2236414" y="954051"/>
                  </a:lnTo>
                  <a:lnTo>
                    <a:pt x="0" y="9540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36414" cy="100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35704" y="6137619"/>
            <a:ext cx="8023596" cy="3622411"/>
            <a:chOff x="0" y="0"/>
            <a:chExt cx="2113210" cy="9540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13210" cy="954051"/>
            </a:xfrm>
            <a:custGeom>
              <a:avLst/>
              <a:gdLst/>
              <a:ahLst/>
              <a:cxnLst/>
              <a:rect r="r" b="b" t="t" l="l"/>
              <a:pathLst>
                <a:path h="954051" w="2113210">
                  <a:moveTo>
                    <a:pt x="0" y="0"/>
                  </a:moveTo>
                  <a:lnTo>
                    <a:pt x="2113210" y="0"/>
                  </a:lnTo>
                  <a:lnTo>
                    <a:pt x="2113210" y="954051"/>
                  </a:lnTo>
                  <a:lnTo>
                    <a:pt x="0" y="954051"/>
                  </a:lnTo>
                  <a:close/>
                </a:path>
              </a:pathLst>
            </a:custGeom>
            <a:solidFill>
              <a:srgbClr val="CFB15B">
                <a:alpha val="47843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13210" cy="100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774297" y="6747150"/>
            <a:ext cx="6725995" cy="233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5"/>
              </a:lnSpc>
            </a:pPr>
            <a:r>
              <a:rPr lang="en-US" sz="32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Building Trust and Credibility</a:t>
            </a:r>
          </a:p>
          <a:p>
            <a:pPr algn="l" marL="712465" indent="-356233" lvl="1">
              <a:lnSpc>
                <a:spcPts val="4685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Pulic results</a:t>
            </a:r>
          </a:p>
          <a:p>
            <a:pPr algn="l" marL="712465" indent="-356233" lvl="1">
              <a:lnSpc>
                <a:spcPts val="4685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Community partnership</a:t>
            </a:r>
          </a:p>
          <a:p>
            <a:pPr algn="l" marL="712465" indent="-356233" lvl="1">
              <a:lnSpc>
                <a:spcPts val="4685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Operaator commitments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169310" y="2822984"/>
            <a:ext cx="644808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>
            <a:off x="16764388" y="2878036"/>
            <a:ext cx="0" cy="644808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 flipH="true">
            <a:off x="16119580" y="9258300"/>
            <a:ext cx="644808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110959" y="8877544"/>
            <a:ext cx="761511" cy="76151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FB15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70908" y="737945"/>
            <a:ext cx="16982771" cy="989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0"/>
              </a:lnSpc>
            </a:pPr>
            <a:r>
              <a:rPr lang="en-US" sz="6100">
                <a:solidFill>
                  <a:srgbClr val="FFFFFF"/>
                </a:solidFill>
                <a:latin typeface="Quando"/>
                <a:ea typeface="Quando"/>
                <a:cs typeface="Quando"/>
                <a:sym typeface="Quando"/>
              </a:rPr>
              <a:t>User-Reluctance </a:t>
            </a:r>
            <a:r>
              <a:rPr lang="en-US" sz="6100">
                <a:solidFill>
                  <a:srgbClr val="CFB15B"/>
                </a:solidFill>
                <a:latin typeface="Quando"/>
                <a:ea typeface="Quando"/>
                <a:cs typeface="Quando"/>
                <a:sym typeface="Quando"/>
              </a:rPr>
              <a:t>Mitigation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62329" y="2700556"/>
            <a:ext cx="6549931" cy="2751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1"/>
              </a:lnSpc>
            </a:pPr>
            <a:r>
              <a:rPr lang="en-US" sz="30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Overcoming Technical Barriers</a:t>
            </a:r>
          </a:p>
          <a:p>
            <a:pPr algn="l" marL="669286" indent="-334643" lvl="1">
              <a:lnSpc>
                <a:spcPts val="4401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Minimalist interface</a:t>
            </a:r>
          </a:p>
          <a:p>
            <a:pPr algn="l" marL="669286" indent="-334643" lvl="1">
              <a:lnSpc>
                <a:spcPts val="4401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Reduced form fields</a:t>
            </a:r>
          </a:p>
          <a:p>
            <a:pPr algn="l" marL="669286" indent="-334643" lvl="1">
              <a:lnSpc>
                <a:spcPts val="4401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One-tap feedback</a:t>
            </a:r>
          </a:p>
          <a:p>
            <a:pPr algn="l" marL="669286" indent="-334643" lvl="1">
              <a:lnSpc>
                <a:spcPts val="4401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Lightweight design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32715" y="6795065"/>
            <a:ext cx="7411285" cy="264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9"/>
              </a:lnSpc>
            </a:pPr>
            <a:r>
              <a:rPr lang="en-US" sz="29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Addressing Resource Consumption</a:t>
            </a:r>
          </a:p>
          <a:p>
            <a:pPr algn="l" marL="647697" indent="-323848" lvl="1">
              <a:lnSpc>
                <a:spcPts val="425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Data-saver mode</a:t>
            </a:r>
          </a:p>
          <a:p>
            <a:pPr algn="l" marL="647697" indent="-323848" lvl="1">
              <a:lnSpc>
                <a:spcPts val="425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Compact design</a:t>
            </a:r>
          </a:p>
          <a:p>
            <a:pPr algn="l" marL="647697" indent="-323848" lvl="1">
              <a:lnSpc>
                <a:spcPts val="425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Resource monitoring</a:t>
            </a:r>
          </a:p>
          <a:p>
            <a:pPr algn="l" marL="647697" indent="-323848" lvl="1">
              <a:lnSpc>
                <a:spcPts val="425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Offline functionality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72470" y="2746784"/>
            <a:ext cx="6813190" cy="2751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4"/>
              </a:lnSpc>
            </a:pPr>
            <a:r>
              <a:rPr lang="en-US" sz="310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Addressing Privacy Concerns</a:t>
            </a:r>
          </a:p>
          <a:p>
            <a:pPr algn="l" marL="669676" indent="-334838" lvl="1">
              <a:lnSpc>
                <a:spcPts val="4404"/>
              </a:lnSpc>
              <a:buFont typeface="Arial"/>
              <a:buChar char="•"/>
            </a:pPr>
            <a:r>
              <a:rPr lang="en-US" sz="310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Transparent data policies</a:t>
            </a:r>
          </a:p>
          <a:p>
            <a:pPr algn="l" marL="669676" indent="-334838" lvl="1">
              <a:lnSpc>
                <a:spcPts val="4404"/>
              </a:lnSpc>
              <a:buFont typeface="Arial"/>
              <a:buChar char="•"/>
            </a:pPr>
            <a:r>
              <a:rPr lang="en-US" sz="310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Granular permissions</a:t>
            </a:r>
          </a:p>
          <a:p>
            <a:pPr algn="l" marL="669676" indent="-334838" lvl="1">
              <a:lnSpc>
                <a:spcPts val="4404"/>
              </a:lnSpc>
              <a:buFont typeface="Arial"/>
              <a:buChar char="•"/>
            </a:pPr>
            <a:r>
              <a:rPr lang="en-US" sz="310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Collection scheduling</a:t>
            </a:r>
          </a:p>
          <a:p>
            <a:pPr algn="l" marL="669676" indent="-334838" lvl="1">
              <a:lnSpc>
                <a:spcPts val="4404"/>
              </a:lnSpc>
              <a:buFont typeface="Arial"/>
              <a:buChar char="•"/>
            </a:pPr>
            <a:r>
              <a:rPr lang="en-US" sz="310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Anonymous reporting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31648" y="1028700"/>
            <a:ext cx="7027652" cy="8229600"/>
            <a:chOff x="0" y="0"/>
            <a:chExt cx="2854611" cy="3342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4611" cy="3342839"/>
            </a:xfrm>
            <a:custGeom>
              <a:avLst/>
              <a:gdLst/>
              <a:ahLst/>
              <a:cxnLst/>
              <a:rect r="r" b="b" t="t" l="l"/>
              <a:pathLst>
                <a:path h="3342839" w="2854611">
                  <a:moveTo>
                    <a:pt x="0" y="0"/>
                  </a:moveTo>
                  <a:lnTo>
                    <a:pt x="2413736" y="0"/>
                  </a:lnTo>
                  <a:cubicBezTo>
                    <a:pt x="2657436" y="0"/>
                    <a:pt x="2854611" y="354604"/>
                    <a:pt x="2854611" y="792878"/>
                  </a:cubicBezTo>
                  <a:lnTo>
                    <a:pt x="2854611" y="3342839"/>
                  </a:lnTo>
                  <a:lnTo>
                    <a:pt x="0" y="3342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987" t="0" r="-379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122060"/>
            <a:ext cx="9522515" cy="2709424"/>
            <a:chOff x="0" y="0"/>
            <a:chExt cx="2507987" cy="7135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07987" cy="713593"/>
            </a:xfrm>
            <a:custGeom>
              <a:avLst/>
              <a:gdLst/>
              <a:ahLst/>
              <a:cxnLst/>
              <a:rect r="r" b="b" t="t" l="l"/>
              <a:pathLst>
                <a:path h="713593" w="2507987">
                  <a:moveTo>
                    <a:pt x="0" y="0"/>
                  </a:moveTo>
                  <a:lnTo>
                    <a:pt x="2507987" y="0"/>
                  </a:lnTo>
                  <a:lnTo>
                    <a:pt x="2507987" y="713593"/>
                  </a:lnTo>
                  <a:lnTo>
                    <a:pt x="0" y="71359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507987" cy="761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423249" y="7162380"/>
            <a:ext cx="1836051" cy="2095920"/>
            <a:chOff x="0" y="0"/>
            <a:chExt cx="1840053" cy="21004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40053" cy="2100488"/>
            </a:xfrm>
            <a:custGeom>
              <a:avLst/>
              <a:gdLst/>
              <a:ahLst/>
              <a:cxnLst/>
              <a:rect r="r" b="b" t="t" l="l"/>
              <a:pathLst>
                <a:path h="2100488" w="1840053">
                  <a:moveTo>
                    <a:pt x="0" y="0"/>
                  </a:moveTo>
                  <a:lnTo>
                    <a:pt x="1840053" y="0"/>
                  </a:lnTo>
                  <a:lnTo>
                    <a:pt x="1840053" y="2100488"/>
                  </a:lnTo>
                  <a:lnTo>
                    <a:pt x="0" y="2100488"/>
                  </a:lnTo>
                  <a:close/>
                </a:path>
              </a:pathLst>
            </a:custGeom>
            <a:solidFill>
              <a:srgbClr val="BF0000">
                <a:alpha val="51765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3738124"/>
            <a:ext cx="9522515" cy="5520176"/>
            <a:chOff x="0" y="0"/>
            <a:chExt cx="5320316" cy="30841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20316" cy="3084173"/>
            </a:xfrm>
            <a:custGeom>
              <a:avLst/>
              <a:gdLst/>
              <a:ahLst/>
              <a:cxnLst/>
              <a:rect r="r" b="b" t="t" l="l"/>
              <a:pathLst>
                <a:path h="3084173" w="5320316">
                  <a:moveTo>
                    <a:pt x="0" y="0"/>
                  </a:moveTo>
                  <a:lnTo>
                    <a:pt x="5320316" y="0"/>
                  </a:lnTo>
                  <a:lnTo>
                    <a:pt x="5320316" y="3084173"/>
                  </a:lnTo>
                  <a:lnTo>
                    <a:pt x="0" y="30841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706732" y="7731792"/>
            <a:ext cx="1269084" cy="957097"/>
            <a:chOff x="0" y="0"/>
            <a:chExt cx="7701878" cy="58084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01878" cy="5808472"/>
            </a:xfrm>
            <a:custGeom>
              <a:avLst/>
              <a:gdLst/>
              <a:ahLst/>
              <a:cxnLst/>
              <a:rect r="r" b="b" t="t" l="l"/>
              <a:pathLst>
                <a:path h="5808472" w="7701878">
                  <a:moveTo>
                    <a:pt x="4797642" y="5808472"/>
                  </a:moveTo>
                  <a:lnTo>
                    <a:pt x="3943567" y="4954397"/>
                  </a:lnTo>
                  <a:lnTo>
                    <a:pt x="5389843" y="3508121"/>
                  </a:lnTo>
                  <a:lnTo>
                    <a:pt x="0" y="3508121"/>
                  </a:lnTo>
                  <a:lnTo>
                    <a:pt x="0" y="2300224"/>
                  </a:lnTo>
                  <a:lnTo>
                    <a:pt x="5389716" y="2300224"/>
                  </a:lnTo>
                  <a:lnTo>
                    <a:pt x="3943567" y="854075"/>
                  </a:lnTo>
                  <a:lnTo>
                    <a:pt x="4797642" y="0"/>
                  </a:lnTo>
                  <a:lnTo>
                    <a:pt x="7701878" y="2904236"/>
                  </a:lnTo>
                  <a:lnTo>
                    <a:pt x="4797642" y="58084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961273" y="4093719"/>
            <a:ext cx="8098554" cy="244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2406" indent="-376203" lvl="1">
              <a:lnSpc>
                <a:spcPts val="6621"/>
              </a:lnSpc>
              <a:buFont typeface="Arial"/>
              <a:buChar char="•"/>
            </a:pPr>
            <a:r>
              <a:rPr lang="en-US" sz="348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Micro-rewards</a:t>
            </a:r>
          </a:p>
          <a:p>
            <a:pPr algn="l" marL="752406" indent="-376203" lvl="1">
              <a:lnSpc>
                <a:spcPts val="6621"/>
              </a:lnSpc>
              <a:buFont typeface="Arial"/>
              <a:buChar char="•"/>
            </a:pPr>
            <a:r>
              <a:rPr lang="en-US" sz="348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Tiered benefits</a:t>
            </a:r>
          </a:p>
          <a:p>
            <a:pPr algn="l" marL="752406" indent="-376203" lvl="1">
              <a:lnSpc>
                <a:spcPts val="6621"/>
              </a:lnSpc>
              <a:buFont typeface="Arial"/>
              <a:buChar char="•"/>
            </a:pPr>
            <a:r>
              <a:rPr lang="en-US" sz="348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Recognition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61273" y="1448708"/>
            <a:ext cx="8270375" cy="1989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0"/>
              </a:lnSpc>
            </a:pPr>
            <a:r>
              <a:rPr lang="en-US" sz="6100">
                <a:solidFill>
                  <a:srgbClr val="000000"/>
                </a:solidFill>
                <a:latin typeface="Quando"/>
                <a:ea typeface="Quando"/>
                <a:cs typeface="Quando"/>
                <a:sym typeface="Quando"/>
              </a:rPr>
              <a:t>Incentive Approaches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274726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82425" y="8065525"/>
            <a:ext cx="1676875" cy="1914215"/>
            <a:chOff x="0" y="0"/>
            <a:chExt cx="1840053" cy="21004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40053" cy="2100488"/>
            </a:xfrm>
            <a:custGeom>
              <a:avLst/>
              <a:gdLst/>
              <a:ahLst/>
              <a:cxnLst/>
              <a:rect r="r" b="b" t="t" l="l"/>
              <a:pathLst>
                <a:path h="2100488" w="1840053">
                  <a:moveTo>
                    <a:pt x="0" y="0"/>
                  </a:moveTo>
                  <a:lnTo>
                    <a:pt x="1840053" y="0"/>
                  </a:lnTo>
                  <a:lnTo>
                    <a:pt x="1840053" y="2100488"/>
                  </a:lnTo>
                  <a:lnTo>
                    <a:pt x="0" y="2100488"/>
                  </a:lnTo>
                  <a:close/>
                </a:path>
              </a:pathLst>
            </a:custGeom>
            <a:solidFill>
              <a:srgbClr val="BF00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918428" y="8667910"/>
            <a:ext cx="1004870" cy="757836"/>
            <a:chOff x="0" y="0"/>
            <a:chExt cx="7701878" cy="5808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01878" cy="5808472"/>
            </a:xfrm>
            <a:custGeom>
              <a:avLst/>
              <a:gdLst/>
              <a:ahLst/>
              <a:cxnLst/>
              <a:rect r="r" b="b" t="t" l="l"/>
              <a:pathLst>
                <a:path h="5808472" w="7701878">
                  <a:moveTo>
                    <a:pt x="4797642" y="5808472"/>
                  </a:moveTo>
                  <a:lnTo>
                    <a:pt x="3943567" y="4954397"/>
                  </a:lnTo>
                  <a:lnTo>
                    <a:pt x="5389843" y="3508121"/>
                  </a:lnTo>
                  <a:lnTo>
                    <a:pt x="0" y="3508121"/>
                  </a:lnTo>
                  <a:lnTo>
                    <a:pt x="0" y="2300224"/>
                  </a:lnTo>
                  <a:lnTo>
                    <a:pt x="5389716" y="2300224"/>
                  </a:lnTo>
                  <a:lnTo>
                    <a:pt x="3943567" y="854075"/>
                  </a:lnTo>
                  <a:lnTo>
                    <a:pt x="4797642" y="0"/>
                  </a:lnTo>
                  <a:lnTo>
                    <a:pt x="7701878" y="2904236"/>
                  </a:lnTo>
                  <a:lnTo>
                    <a:pt x="4797642" y="58084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421905" y="2716716"/>
            <a:ext cx="13160520" cy="5155391"/>
            <a:chOff x="0" y="0"/>
            <a:chExt cx="17547360" cy="687385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17547360" cy="1601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880"/>
                </a:lnSpc>
              </a:pPr>
              <a:r>
                <a:rPr lang="en-US" sz="7600">
                  <a:solidFill>
                    <a:srgbClr val="000000"/>
                  </a:solidFill>
                  <a:latin typeface="Quando"/>
                  <a:ea typeface="Quando"/>
                  <a:cs typeface="Quando"/>
                  <a:sym typeface="Quando"/>
                </a:rPr>
                <a:t>Conclusion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287546"/>
              <a:ext cx="17547360" cy="55863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20710" indent="-310355" lvl="1">
                <a:lnSpc>
                  <a:spcPts val="6928"/>
                </a:lnSpc>
                <a:buFont typeface="Arial"/>
                <a:buChar char="•"/>
              </a:pPr>
              <a:r>
                <a:rPr lang="en-US" sz="28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</a:t>
              </a:r>
              <a:r>
                <a:rPr lang="en-US" sz="28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licitation was conducted as part of the Requirement Engineering process.</a:t>
              </a:r>
            </a:p>
            <a:p>
              <a:pPr algn="l" marL="620710" indent="-310355" lvl="1">
                <a:lnSpc>
                  <a:spcPts val="6928"/>
                </a:lnSpc>
                <a:buFont typeface="Arial"/>
                <a:buChar char="•"/>
              </a:pPr>
              <a:r>
                <a:rPr lang="en-US" sz="28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It involved direct engagement with stakeholders of the system.</a:t>
              </a:r>
            </a:p>
            <a:p>
              <a:pPr algn="l" marL="620710" indent="-310355" lvl="1">
                <a:lnSpc>
                  <a:spcPts val="6928"/>
                </a:lnSpc>
                <a:buFont typeface="Arial"/>
                <a:buChar char="•"/>
              </a:pPr>
              <a:r>
                <a:rPr lang="en-US" sz="28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Focus was on uncovering real needs, expectations, and challenges.</a:t>
              </a:r>
            </a:p>
            <a:p>
              <a:pPr algn="l" marL="620710" indent="-310355" lvl="1">
                <a:lnSpc>
                  <a:spcPts val="6928"/>
                </a:lnSpc>
                <a:buFont typeface="Arial"/>
                <a:buChar char="•"/>
              </a:pPr>
              <a:r>
                <a:rPr lang="en-US" sz="28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insights guided informed and user-centered system design.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151" r="0" b="-915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22509" y="1822509"/>
            <a:ext cx="14642983" cy="7263563"/>
            <a:chOff x="0" y="0"/>
            <a:chExt cx="3856588" cy="19130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56588" cy="1913037"/>
            </a:xfrm>
            <a:custGeom>
              <a:avLst/>
              <a:gdLst/>
              <a:ahLst/>
              <a:cxnLst/>
              <a:rect r="r" b="b" t="t" l="l"/>
              <a:pathLst>
                <a:path h="1913037" w="3856588">
                  <a:moveTo>
                    <a:pt x="0" y="0"/>
                  </a:moveTo>
                  <a:lnTo>
                    <a:pt x="3856588" y="0"/>
                  </a:lnTo>
                  <a:lnTo>
                    <a:pt x="3856588" y="1913037"/>
                  </a:lnTo>
                  <a:lnTo>
                    <a:pt x="0" y="1913037"/>
                  </a:lnTo>
                  <a:close/>
                </a:path>
              </a:pathLst>
            </a:custGeom>
            <a:solidFill>
              <a:srgbClr val="0C0C0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856588" cy="1960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22601" y="8391901"/>
            <a:ext cx="1388342" cy="138834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FB15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565399" y="5017136"/>
            <a:ext cx="13157203" cy="998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8"/>
              </a:lnSpc>
            </a:pPr>
            <a:r>
              <a:rPr lang="en-US" sz="7401">
                <a:solidFill>
                  <a:srgbClr val="FFEDED"/>
                </a:solidFill>
                <a:latin typeface="Quando"/>
                <a:ea typeface="Quando"/>
                <a:cs typeface="Quando"/>
                <a:sym typeface="Quando"/>
              </a:rPr>
              <a:t>Thank You for Listenig....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DAGkiateeK4</dc:identifier>
  <dcterms:modified xsi:type="dcterms:W3CDTF">2011-08-01T06:04:30Z</dcterms:modified>
  <cp:revision>1</cp:revision>
  <dc:title>Requirement Gathering</dc:title>
</cp:coreProperties>
</file>